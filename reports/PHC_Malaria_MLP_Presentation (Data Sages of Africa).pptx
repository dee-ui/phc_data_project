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73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4F5196-0B04-4E6F-A93B-5214BD5CBF5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6FD255-6977-4073-82BC-66F47917181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Spatial units: DHS clusters / facility catchments (site-level identifiers).</a:t>
          </a:r>
        </a:p>
      </dgm:t>
    </dgm:pt>
    <dgm:pt modelId="{833901D0-A406-4C84-BDD9-2AA9DA7DC895}" type="parTrans" cxnId="{17BEFAC0-C4BA-45AE-A8D3-F3A2E2C7C43B}">
      <dgm:prSet/>
      <dgm:spPr/>
      <dgm:t>
        <a:bodyPr/>
        <a:lstStyle/>
        <a:p>
          <a:endParaRPr lang="en-US"/>
        </a:p>
      </dgm:t>
    </dgm:pt>
    <dgm:pt modelId="{FDD03D49-5CB7-4564-B3EB-0A7C3DB1F9CF}" type="sibTrans" cxnId="{17BEFAC0-C4BA-45AE-A8D3-F3A2E2C7C43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3BFDF5-2436-4F38-8686-A9CCB11E181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Covariates: “</a:t>
          </a:r>
          <a:r>
            <a:rPr lang="en-GB" sz="1400" dirty="0" err="1"/>
            <a:t>Population_Count</a:t>
          </a:r>
          <a:r>
            <a:rPr lang="en-GB" sz="1400" dirty="0"/>
            <a:t>", "Aridity", "</a:t>
          </a:r>
          <a:r>
            <a:rPr lang="en-GB" sz="1400" dirty="0" err="1"/>
            <a:t>Malaria_Incidence</a:t>
          </a:r>
          <a:r>
            <a:rPr lang="en-GB" sz="1400" dirty="0"/>
            <a:t>", "</a:t>
          </a:r>
          <a:r>
            <a:rPr lang="en-GB" sz="1400" dirty="0" err="1"/>
            <a:t>Mean_Temperature</a:t>
          </a:r>
          <a:r>
            <a:rPr lang="en-GB" sz="1400" dirty="0"/>
            <a:t>", "Precipitation", "Rainfall",</a:t>
          </a:r>
        </a:p>
      </dgm:t>
    </dgm:pt>
    <dgm:pt modelId="{D815039C-5085-445E-8F1E-6D065E7B9A09}" type="parTrans" cxnId="{0F5B4360-7D66-429A-8229-FAB3EFF4C4F3}">
      <dgm:prSet/>
      <dgm:spPr/>
      <dgm:t>
        <a:bodyPr/>
        <a:lstStyle/>
        <a:p>
          <a:endParaRPr lang="en-US"/>
        </a:p>
      </dgm:t>
    </dgm:pt>
    <dgm:pt modelId="{D16C9314-6795-410A-B457-D62ABF7A350E}" type="sibTrans" cxnId="{0F5B4360-7D66-429A-8229-FAB3EFF4C4F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FB8F4A-63E5-4580-A321-7EBAAE72689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Label: </a:t>
          </a:r>
          <a:r>
            <a:rPr lang="en-US" sz="1400" dirty="0" err="1"/>
            <a:t>Malaria_Prevalence</a:t>
          </a:r>
          <a:r>
            <a:rPr lang="en-US" sz="1400" dirty="0"/>
            <a:t> (survey-based or surveillance-derived).</a:t>
          </a:r>
        </a:p>
      </dgm:t>
    </dgm:pt>
    <dgm:pt modelId="{C45809B4-9082-4BD0-8CD1-6B1F1672A409}" type="parTrans" cxnId="{43C858FA-0F33-4314-B5B2-8BB31354C852}">
      <dgm:prSet/>
      <dgm:spPr/>
      <dgm:t>
        <a:bodyPr/>
        <a:lstStyle/>
        <a:p>
          <a:endParaRPr lang="en-US"/>
        </a:p>
      </dgm:t>
    </dgm:pt>
    <dgm:pt modelId="{48619A09-7BCF-42D3-8623-841BC100E1ED}" type="sibTrans" cxnId="{43C858FA-0F33-4314-B5B2-8BB31354C85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1E2A153-BFD2-475A-8A8B-7BCE6E1FCB1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Primary sources: NDHS, </a:t>
          </a:r>
          <a:r>
            <a:rPr lang="en-US" sz="1400" dirty="0" err="1"/>
            <a:t>WorldPop</a:t>
          </a:r>
          <a:r>
            <a:rPr lang="en-US" sz="1400" dirty="0"/>
            <a:t>, Malaria Atlas Project (MAP), HDX, and DHIS2.</a:t>
          </a:r>
        </a:p>
      </dgm:t>
    </dgm:pt>
    <dgm:pt modelId="{B417E302-FCC8-4BBB-9ED8-2F39BBD5C95A}" type="parTrans" cxnId="{986C7E29-00B7-4C05-B097-9DA0EBBD4D1A}">
      <dgm:prSet/>
      <dgm:spPr/>
      <dgm:t>
        <a:bodyPr/>
        <a:lstStyle/>
        <a:p>
          <a:endParaRPr lang="en-US"/>
        </a:p>
      </dgm:t>
    </dgm:pt>
    <dgm:pt modelId="{2F396F4B-C60A-4060-B11C-6CDA653B97F7}" type="sibTrans" cxnId="{986C7E29-00B7-4C05-B097-9DA0EBBD4D1A}">
      <dgm:prSet/>
      <dgm:spPr/>
      <dgm:t>
        <a:bodyPr/>
        <a:lstStyle/>
        <a:p>
          <a:endParaRPr lang="en-US"/>
        </a:p>
      </dgm:t>
    </dgm:pt>
    <dgm:pt modelId="{4588D273-E409-4BFA-88E9-F637051B8B8C}" type="pres">
      <dgm:prSet presAssocID="{314F5196-0B04-4E6F-A93B-5214BD5CBF5A}" presName="root" presStyleCnt="0">
        <dgm:presLayoutVars>
          <dgm:dir/>
          <dgm:resizeHandles val="exact"/>
        </dgm:presLayoutVars>
      </dgm:prSet>
      <dgm:spPr/>
    </dgm:pt>
    <dgm:pt modelId="{A10EBC0B-9142-4457-9DCB-E91249EB67FD}" type="pres">
      <dgm:prSet presAssocID="{314F5196-0B04-4E6F-A93B-5214BD5CBF5A}" presName="container" presStyleCnt="0">
        <dgm:presLayoutVars>
          <dgm:dir/>
          <dgm:resizeHandles val="exact"/>
        </dgm:presLayoutVars>
      </dgm:prSet>
      <dgm:spPr/>
    </dgm:pt>
    <dgm:pt modelId="{DE5AB3CF-AFF7-4546-BFDD-9ABF8B24B3E0}" type="pres">
      <dgm:prSet presAssocID="{256FD255-6977-4073-82BC-66F47917181C}" presName="compNode" presStyleCnt="0"/>
      <dgm:spPr/>
    </dgm:pt>
    <dgm:pt modelId="{E4B4F671-E9BA-4217-9A00-639F4D2784A2}" type="pres">
      <dgm:prSet presAssocID="{256FD255-6977-4073-82BC-66F47917181C}" presName="iconBgRect" presStyleLbl="bgShp" presStyleIdx="0" presStyleCnt="4"/>
      <dgm:spPr/>
    </dgm:pt>
    <dgm:pt modelId="{11D3C6BD-2990-4388-9231-20C292E7AD96}" type="pres">
      <dgm:prSet presAssocID="{256FD255-6977-4073-82BC-66F4791718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EBAB092-E5AB-448A-B099-EB7049916AF6}" type="pres">
      <dgm:prSet presAssocID="{256FD255-6977-4073-82BC-66F47917181C}" presName="spaceRect" presStyleCnt="0"/>
      <dgm:spPr/>
    </dgm:pt>
    <dgm:pt modelId="{B7C6E9E1-B3CA-41D2-9173-76513B253E7C}" type="pres">
      <dgm:prSet presAssocID="{256FD255-6977-4073-82BC-66F47917181C}" presName="textRect" presStyleLbl="revTx" presStyleIdx="0" presStyleCnt="4">
        <dgm:presLayoutVars>
          <dgm:chMax val="1"/>
          <dgm:chPref val="1"/>
        </dgm:presLayoutVars>
      </dgm:prSet>
      <dgm:spPr/>
    </dgm:pt>
    <dgm:pt modelId="{088F1BDD-09CB-47D2-9DBF-7A36E310A548}" type="pres">
      <dgm:prSet presAssocID="{FDD03D49-5CB7-4564-B3EB-0A7C3DB1F9CF}" presName="sibTrans" presStyleLbl="sibTrans2D1" presStyleIdx="0" presStyleCnt="0"/>
      <dgm:spPr/>
    </dgm:pt>
    <dgm:pt modelId="{2EEF28E8-31EE-4646-B4B9-A28E6C60DE95}" type="pres">
      <dgm:prSet presAssocID="{2B3BFDF5-2436-4F38-8686-A9CCB11E1813}" presName="compNode" presStyleCnt="0"/>
      <dgm:spPr/>
    </dgm:pt>
    <dgm:pt modelId="{A7B72FF6-C814-49C5-92B0-B4827C56597F}" type="pres">
      <dgm:prSet presAssocID="{2B3BFDF5-2436-4F38-8686-A9CCB11E1813}" presName="iconBgRect" presStyleLbl="bgShp" presStyleIdx="1" presStyleCnt="4" custLinFactNeighborX="-45460" custLinFactNeighborY="-4805"/>
      <dgm:spPr/>
    </dgm:pt>
    <dgm:pt modelId="{98DDBD54-A242-4144-BB81-2468C96AF0D2}" type="pres">
      <dgm:prSet presAssocID="{2B3BFDF5-2436-4F38-8686-A9CCB11E1813}" presName="iconRect" presStyleLbl="node1" presStyleIdx="1" presStyleCnt="4" custLinFactNeighborX="-74733" custLinFactNeighborY="-729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58CC81C2-B9FA-43B0-826F-BF5EBF4AF99A}" type="pres">
      <dgm:prSet presAssocID="{2B3BFDF5-2436-4F38-8686-A9CCB11E1813}" presName="spaceRect" presStyleCnt="0"/>
      <dgm:spPr/>
    </dgm:pt>
    <dgm:pt modelId="{F21BB413-2C37-4D20-BFEA-74E889BF5C81}" type="pres">
      <dgm:prSet presAssocID="{2B3BFDF5-2436-4F38-8686-A9CCB11E1813}" presName="textRect" presStyleLbl="revTx" presStyleIdx="1" presStyleCnt="4" custScaleX="125189" custScaleY="107304" custLinFactNeighborX="3012" custLinFactNeighborY="-8457">
        <dgm:presLayoutVars>
          <dgm:chMax val="1"/>
          <dgm:chPref val="1"/>
        </dgm:presLayoutVars>
      </dgm:prSet>
      <dgm:spPr/>
    </dgm:pt>
    <dgm:pt modelId="{A689AF2E-514A-43ED-BFF5-8EE9ECEBADDC}" type="pres">
      <dgm:prSet presAssocID="{D16C9314-6795-410A-B457-D62ABF7A350E}" presName="sibTrans" presStyleLbl="sibTrans2D1" presStyleIdx="0" presStyleCnt="0"/>
      <dgm:spPr/>
    </dgm:pt>
    <dgm:pt modelId="{F77ECA77-59D7-407F-B941-1F208648D07B}" type="pres">
      <dgm:prSet presAssocID="{5FFB8F4A-63E5-4580-A321-7EBAAE726893}" presName="compNode" presStyleCnt="0"/>
      <dgm:spPr/>
    </dgm:pt>
    <dgm:pt modelId="{2B388E90-66AE-4D4F-86A4-865E5B050AC3}" type="pres">
      <dgm:prSet presAssocID="{5FFB8F4A-63E5-4580-A321-7EBAAE726893}" presName="iconBgRect" presStyleLbl="bgShp" presStyleIdx="2" presStyleCnt="4"/>
      <dgm:spPr/>
    </dgm:pt>
    <dgm:pt modelId="{49B0A9D4-1913-4220-9083-0D7E6E73DE4F}" type="pres">
      <dgm:prSet presAssocID="{5FFB8F4A-63E5-4580-A321-7EBAAE7268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dy bug"/>
        </a:ext>
      </dgm:extLst>
    </dgm:pt>
    <dgm:pt modelId="{1145FFEC-3490-4F6B-8538-A6AC03523B08}" type="pres">
      <dgm:prSet presAssocID="{5FFB8F4A-63E5-4580-A321-7EBAAE726893}" presName="spaceRect" presStyleCnt="0"/>
      <dgm:spPr/>
    </dgm:pt>
    <dgm:pt modelId="{ADFE4484-027B-4FE8-B7EF-839B67842706}" type="pres">
      <dgm:prSet presAssocID="{5FFB8F4A-63E5-4580-A321-7EBAAE726893}" presName="textRect" presStyleLbl="revTx" presStyleIdx="2" presStyleCnt="4">
        <dgm:presLayoutVars>
          <dgm:chMax val="1"/>
          <dgm:chPref val="1"/>
        </dgm:presLayoutVars>
      </dgm:prSet>
      <dgm:spPr/>
    </dgm:pt>
    <dgm:pt modelId="{13FFF7BF-66E4-4004-B0E8-272CBB9A804F}" type="pres">
      <dgm:prSet presAssocID="{48619A09-7BCF-42D3-8623-841BC100E1ED}" presName="sibTrans" presStyleLbl="sibTrans2D1" presStyleIdx="0" presStyleCnt="0"/>
      <dgm:spPr/>
    </dgm:pt>
    <dgm:pt modelId="{01942331-C894-43A5-BFD6-5F33F6AD4F14}" type="pres">
      <dgm:prSet presAssocID="{A1E2A153-BFD2-475A-8A8B-7BCE6E1FCB18}" presName="compNode" presStyleCnt="0"/>
      <dgm:spPr/>
    </dgm:pt>
    <dgm:pt modelId="{20D81427-9749-4787-BFC6-93A63FF0C768}" type="pres">
      <dgm:prSet presAssocID="{A1E2A153-BFD2-475A-8A8B-7BCE6E1FCB18}" presName="iconBgRect" presStyleLbl="bgShp" presStyleIdx="3" presStyleCnt="4"/>
      <dgm:spPr/>
    </dgm:pt>
    <dgm:pt modelId="{7084B998-8699-4AD7-995D-87949CA6C4E2}" type="pres">
      <dgm:prSet presAssocID="{A1E2A153-BFD2-475A-8A8B-7BCE6E1FCB1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494B3B44-6AB9-4D8E-8F3D-CB4C58D567BE}" type="pres">
      <dgm:prSet presAssocID="{A1E2A153-BFD2-475A-8A8B-7BCE6E1FCB18}" presName="spaceRect" presStyleCnt="0"/>
      <dgm:spPr/>
    </dgm:pt>
    <dgm:pt modelId="{DC4D9C64-A15C-4250-AF27-BF47D4A9BE63}" type="pres">
      <dgm:prSet presAssocID="{A1E2A153-BFD2-475A-8A8B-7BCE6E1FCB1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86C7E29-00B7-4C05-B097-9DA0EBBD4D1A}" srcId="{314F5196-0B04-4E6F-A93B-5214BD5CBF5A}" destId="{A1E2A153-BFD2-475A-8A8B-7BCE6E1FCB18}" srcOrd="3" destOrd="0" parTransId="{B417E302-FCC8-4BBB-9ED8-2F39BBD5C95A}" sibTransId="{2F396F4B-C60A-4060-B11C-6CDA653B97F7}"/>
    <dgm:cxn modelId="{0F5B4360-7D66-429A-8229-FAB3EFF4C4F3}" srcId="{314F5196-0B04-4E6F-A93B-5214BD5CBF5A}" destId="{2B3BFDF5-2436-4F38-8686-A9CCB11E1813}" srcOrd="1" destOrd="0" parTransId="{D815039C-5085-445E-8F1E-6D065E7B9A09}" sibTransId="{D16C9314-6795-410A-B457-D62ABF7A350E}"/>
    <dgm:cxn modelId="{1DC67260-15A4-48D2-9343-EDE37B120EC1}" type="presOf" srcId="{FDD03D49-5CB7-4564-B3EB-0A7C3DB1F9CF}" destId="{088F1BDD-09CB-47D2-9DBF-7A36E310A548}" srcOrd="0" destOrd="0" presId="urn:microsoft.com/office/officeart/2018/2/layout/IconCircleList"/>
    <dgm:cxn modelId="{A1508662-00A8-4EC2-96DD-8FE8F3368763}" type="presOf" srcId="{48619A09-7BCF-42D3-8623-841BC100E1ED}" destId="{13FFF7BF-66E4-4004-B0E8-272CBB9A804F}" srcOrd="0" destOrd="0" presId="urn:microsoft.com/office/officeart/2018/2/layout/IconCircleList"/>
    <dgm:cxn modelId="{C7CB349B-F026-47B4-9934-422B30B5DA04}" type="presOf" srcId="{5FFB8F4A-63E5-4580-A321-7EBAAE726893}" destId="{ADFE4484-027B-4FE8-B7EF-839B67842706}" srcOrd="0" destOrd="0" presId="urn:microsoft.com/office/officeart/2018/2/layout/IconCircleList"/>
    <dgm:cxn modelId="{E23546AF-9DC3-4802-AE68-E21BE1D7F501}" type="presOf" srcId="{A1E2A153-BFD2-475A-8A8B-7BCE6E1FCB18}" destId="{DC4D9C64-A15C-4250-AF27-BF47D4A9BE63}" srcOrd="0" destOrd="0" presId="urn:microsoft.com/office/officeart/2018/2/layout/IconCircleList"/>
    <dgm:cxn modelId="{A85520B3-4894-4ED7-A60B-EA88FF4C66DA}" type="presOf" srcId="{D16C9314-6795-410A-B457-D62ABF7A350E}" destId="{A689AF2E-514A-43ED-BFF5-8EE9ECEBADDC}" srcOrd="0" destOrd="0" presId="urn:microsoft.com/office/officeart/2018/2/layout/IconCircleList"/>
    <dgm:cxn modelId="{B63FA8BE-D448-4628-974F-6BA5CFF52046}" type="presOf" srcId="{256FD255-6977-4073-82BC-66F47917181C}" destId="{B7C6E9E1-B3CA-41D2-9173-76513B253E7C}" srcOrd="0" destOrd="0" presId="urn:microsoft.com/office/officeart/2018/2/layout/IconCircleList"/>
    <dgm:cxn modelId="{17BEFAC0-C4BA-45AE-A8D3-F3A2E2C7C43B}" srcId="{314F5196-0B04-4E6F-A93B-5214BD5CBF5A}" destId="{256FD255-6977-4073-82BC-66F47917181C}" srcOrd="0" destOrd="0" parTransId="{833901D0-A406-4C84-BDD9-2AA9DA7DC895}" sibTransId="{FDD03D49-5CB7-4564-B3EB-0A7C3DB1F9CF}"/>
    <dgm:cxn modelId="{5DC070C2-5094-488C-B07E-9C1C9BC21C07}" type="presOf" srcId="{314F5196-0B04-4E6F-A93B-5214BD5CBF5A}" destId="{4588D273-E409-4BFA-88E9-F637051B8B8C}" srcOrd="0" destOrd="0" presId="urn:microsoft.com/office/officeart/2018/2/layout/IconCircleList"/>
    <dgm:cxn modelId="{A8575BD0-AEE2-444A-9A5A-84169605D879}" type="presOf" srcId="{2B3BFDF5-2436-4F38-8686-A9CCB11E1813}" destId="{F21BB413-2C37-4D20-BFEA-74E889BF5C81}" srcOrd="0" destOrd="0" presId="urn:microsoft.com/office/officeart/2018/2/layout/IconCircleList"/>
    <dgm:cxn modelId="{43C858FA-0F33-4314-B5B2-8BB31354C852}" srcId="{314F5196-0B04-4E6F-A93B-5214BD5CBF5A}" destId="{5FFB8F4A-63E5-4580-A321-7EBAAE726893}" srcOrd="2" destOrd="0" parTransId="{C45809B4-9082-4BD0-8CD1-6B1F1672A409}" sibTransId="{48619A09-7BCF-42D3-8623-841BC100E1ED}"/>
    <dgm:cxn modelId="{79018CAC-AC6F-4CF9-A071-247674B046E2}" type="presParOf" srcId="{4588D273-E409-4BFA-88E9-F637051B8B8C}" destId="{A10EBC0B-9142-4457-9DCB-E91249EB67FD}" srcOrd="0" destOrd="0" presId="urn:microsoft.com/office/officeart/2018/2/layout/IconCircleList"/>
    <dgm:cxn modelId="{477841F2-5324-4DA3-ADAB-AC68E8C30123}" type="presParOf" srcId="{A10EBC0B-9142-4457-9DCB-E91249EB67FD}" destId="{DE5AB3CF-AFF7-4546-BFDD-9ABF8B24B3E0}" srcOrd="0" destOrd="0" presId="urn:microsoft.com/office/officeart/2018/2/layout/IconCircleList"/>
    <dgm:cxn modelId="{B248B4C8-5C08-4871-AC23-D99A979037B6}" type="presParOf" srcId="{DE5AB3CF-AFF7-4546-BFDD-9ABF8B24B3E0}" destId="{E4B4F671-E9BA-4217-9A00-639F4D2784A2}" srcOrd="0" destOrd="0" presId="urn:microsoft.com/office/officeart/2018/2/layout/IconCircleList"/>
    <dgm:cxn modelId="{5B791BB8-1666-404D-A512-663091528202}" type="presParOf" srcId="{DE5AB3CF-AFF7-4546-BFDD-9ABF8B24B3E0}" destId="{11D3C6BD-2990-4388-9231-20C292E7AD96}" srcOrd="1" destOrd="0" presId="urn:microsoft.com/office/officeart/2018/2/layout/IconCircleList"/>
    <dgm:cxn modelId="{41A6B9B3-871B-478B-8F0D-9269B06EC3F2}" type="presParOf" srcId="{DE5AB3CF-AFF7-4546-BFDD-9ABF8B24B3E0}" destId="{7EBAB092-E5AB-448A-B099-EB7049916AF6}" srcOrd="2" destOrd="0" presId="urn:microsoft.com/office/officeart/2018/2/layout/IconCircleList"/>
    <dgm:cxn modelId="{89BAAFA5-39D8-40DD-A5D4-5EE572CCB48A}" type="presParOf" srcId="{DE5AB3CF-AFF7-4546-BFDD-9ABF8B24B3E0}" destId="{B7C6E9E1-B3CA-41D2-9173-76513B253E7C}" srcOrd="3" destOrd="0" presId="urn:microsoft.com/office/officeart/2018/2/layout/IconCircleList"/>
    <dgm:cxn modelId="{2B3F7815-E785-44EC-8CD6-DE774CAF74A2}" type="presParOf" srcId="{A10EBC0B-9142-4457-9DCB-E91249EB67FD}" destId="{088F1BDD-09CB-47D2-9DBF-7A36E310A548}" srcOrd="1" destOrd="0" presId="urn:microsoft.com/office/officeart/2018/2/layout/IconCircleList"/>
    <dgm:cxn modelId="{9DE341D7-7F38-44BE-8531-E0F0B2FA6F99}" type="presParOf" srcId="{A10EBC0B-9142-4457-9DCB-E91249EB67FD}" destId="{2EEF28E8-31EE-4646-B4B9-A28E6C60DE95}" srcOrd="2" destOrd="0" presId="urn:microsoft.com/office/officeart/2018/2/layout/IconCircleList"/>
    <dgm:cxn modelId="{760A8D08-2267-4A01-BABB-7D98CDF7ADC5}" type="presParOf" srcId="{2EEF28E8-31EE-4646-B4B9-A28E6C60DE95}" destId="{A7B72FF6-C814-49C5-92B0-B4827C56597F}" srcOrd="0" destOrd="0" presId="urn:microsoft.com/office/officeart/2018/2/layout/IconCircleList"/>
    <dgm:cxn modelId="{3AAED7F5-2459-45A7-BAEE-EF8ADAB85B71}" type="presParOf" srcId="{2EEF28E8-31EE-4646-B4B9-A28E6C60DE95}" destId="{98DDBD54-A242-4144-BB81-2468C96AF0D2}" srcOrd="1" destOrd="0" presId="urn:microsoft.com/office/officeart/2018/2/layout/IconCircleList"/>
    <dgm:cxn modelId="{63E89E57-909A-4AA3-AB7C-7E58214CAA19}" type="presParOf" srcId="{2EEF28E8-31EE-4646-B4B9-A28E6C60DE95}" destId="{58CC81C2-B9FA-43B0-826F-BF5EBF4AF99A}" srcOrd="2" destOrd="0" presId="urn:microsoft.com/office/officeart/2018/2/layout/IconCircleList"/>
    <dgm:cxn modelId="{5932014B-EC6A-492B-ACA7-7B439078B8CE}" type="presParOf" srcId="{2EEF28E8-31EE-4646-B4B9-A28E6C60DE95}" destId="{F21BB413-2C37-4D20-BFEA-74E889BF5C81}" srcOrd="3" destOrd="0" presId="urn:microsoft.com/office/officeart/2018/2/layout/IconCircleList"/>
    <dgm:cxn modelId="{21277647-5100-4421-B290-27D0AB26D148}" type="presParOf" srcId="{A10EBC0B-9142-4457-9DCB-E91249EB67FD}" destId="{A689AF2E-514A-43ED-BFF5-8EE9ECEBADDC}" srcOrd="3" destOrd="0" presId="urn:microsoft.com/office/officeart/2018/2/layout/IconCircleList"/>
    <dgm:cxn modelId="{970D9EDB-3E89-46DD-910E-7F26DF0779F3}" type="presParOf" srcId="{A10EBC0B-9142-4457-9DCB-E91249EB67FD}" destId="{F77ECA77-59D7-407F-B941-1F208648D07B}" srcOrd="4" destOrd="0" presId="urn:microsoft.com/office/officeart/2018/2/layout/IconCircleList"/>
    <dgm:cxn modelId="{616DF0B6-6DB5-4906-8441-9FA4EF459525}" type="presParOf" srcId="{F77ECA77-59D7-407F-B941-1F208648D07B}" destId="{2B388E90-66AE-4D4F-86A4-865E5B050AC3}" srcOrd="0" destOrd="0" presId="urn:microsoft.com/office/officeart/2018/2/layout/IconCircleList"/>
    <dgm:cxn modelId="{E5056885-C6EF-4AE2-AE2C-7FE3BA01FD50}" type="presParOf" srcId="{F77ECA77-59D7-407F-B941-1F208648D07B}" destId="{49B0A9D4-1913-4220-9083-0D7E6E73DE4F}" srcOrd="1" destOrd="0" presId="urn:microsoft.com/office/officeart/2018/2/layout/IconCircleList"/>
    <dgm:cxn modelId="{BA55AB2F-43B1-4B17-8400-03944FF0B966}" type="presParOf" srcId="{F77ECA77-59D7-407F-B941-1F208648D07B}" destId="{1145FFEC-3490-4F6B-8538-A6AC03523B08}" srcOrd="2" destOrd="0" presId="urn:microsoft.com/office/officeart/2018/2/layout/IconCircleList"/>
    <dgm:cxn modelId="{F5E868FF-2425-4726-965C-E84840C1C40D}" type="presParOf" srcId="{F77ECA77-59D7-407F-B941-1F208648D07B}" destId="{ADFE4484-027B-4FE8-B7EF-839B67842706}" srcOrd="3" destOrd="0" presId="urn:microsoft.com/office/officeart/2018/2/layout/IconCircleList"/>
    <dgm:cxn modelId="{5CFF833B-FC4D-4AAB-A9E7-A1B125D32620}" type="presParOf" srcId="{A10EBC0B-9142-4457-9DCB-E91249EB67FD}" destId="{13FFF7BF-66E4-4004-B0E8-272CBB9A804F}" srcOrd="5" destOrd="0" presId="urn:microsoft.com/office/officeart/2018/2/layout/IconCircleList"/>
    <dgm:cxn modelId="{334491EA-91C9-4946-9922-358A62160CDC}" type="presParOf" srcId="{A10EBC0B-9142-4457-9DCB-E91249EB67FD}" destId="{01942331-C894-43A5-BFD6-5F33F6AD4F14}" srcOrd="6" destOrd="0" presId="urn:microsoft.com/office/officeart/2018/2/layout/IconCircleList"/>
    <dgm:cxn modelId="{80538E08-8106-405D-8634-815CC769E982}" type="presParOf" srcId="{01942331-C894-43A5-BFD6-5F33F6AD4F14}" destId="{20D81427-9749-4787-BFC6-93A63FF0C768}" srcOrd="0" destOrd="0" presId="urn:microsoft.com/office/officeart/2018/2/layout/IconCircleList"/>
    <dgm:cxn modelId="{D3F22D2D-A9C1-48FB-BF56-D7093FE292EF}" type="presParOf" srcId="{01942331-C894-43A5-BFD6-5F33F6AD4F14}" destId="{7084B998-8699-4AD7-995D-87949CA6C4E2}" srcOrd="1" destOrd="0" presId="urn:microsoft.com/office/officeart/2018/2/layout/IconCircleList"/>
    <dgm:cxn modelId="{EBCFD06E-9C1E-4117-B138-9CCACFE50EEE}" type="presParOf" srcId="{01942331-C894-43A5-BFD6-5F33F6AD4F14}" destId="{494B3B44-6AB9-4D8E-8F3D-CB4C58D567BE}" srcOrd="2" destOrd="0" presId="urn:microsoft.com/office/officeart/2018/2/layout/IconCircleList"/>
    <dgm:cxn modelId="{5657DA37-969B-4D96-A056-B146E2712F7C}" type="presParOf" srcId="{01942331-C894-43A5-BFD6-5F33F6AD4F14}" destId="{DC4D9C64-A15C-4250-AF27-BF47D4A9BE6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35DAD8-5600-4BC4-A387-5ADEFA4FBB7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3AD7CB23-FDDC-4DDD-BB33-DDEBCD0B77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Input: Site-year feature vector (covariates + temporal lags + spatial features).</a:t>
          </a:r>
        </a:p>
      </dgm:t>
    </dgm:pt>
    <dgm:pt modelId="{90A54CA5-3EBB-4F4D-9CBA-A3323DF97D82}" type="parTrans" cxnId="{766675AB-9241-4A53-9990-9D01C456A5D9}">
      <dgm:prSet/>
      <dgm:spPr/>
      <dgm:t>
        <a:bodyPr/>
        <a:lstStyle/>
        <a:p>
          <a:endParaRPr lang="en-US"/>
        </a:p>
      </dgm:t>
    </dgm:pt>
    <dgm:pt modelId="{547B892C-8E70-46B4-9685-884B4838D2AF}" type="sibTrans" cxnId="{766675AB-9241-4A53-9990-9D01C456A5D9}">
      <dgm:prSet/>
      <dgm:spPr/>
      <dgm:t>
        <a:bodyPr/>
        <a:lstStyle/>
        <a:p>
          <a:endParaRPr lang="en-US"/>
        </a:p>
      </dgm:t>
    </dgm:pt>
    <dgm:pt modelId="{20A031FF-7334-484B-9038-9DCBEA447CE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Architecture: Input layer → Dense(256) → BatchNorm → Dropout → Dense(128) → BatchNorm → Dropout → Output(1).</a:t>
          </a:r>
        </a:p>
      </dgm:t>
    </dgm:pt>
    <dgm:pt modelId="{46A170EA-F737-4525-8A02-F4736BB662DC}" type="parTrans" cxnId="{3E7E1D93-D1DC-41C6-9747-4D5EEADD141F}">
      <dgm:prSet/>
      <dgm:spPr/>
      <dgm:t>
        <a:bodyPr/>
        <a:lstStyle/>
        <a:p>
          <a:endParaRPr lang="en-US"/>
        </a:p>
      </dgm:t>
    </dgm:pt>
    <dgm:pt modelId="{A07F5376-520D-4295-9579-7A7578630754}" type="sibTrans" cxnId="{3E7E1D93-D1DC-41C6-9747-4D5EEADD141F}">
      <dgm:prSet/>
      <dgm:spPr/>
      <dgm:t>
        <a:bodyPr/>
        <a:lstStyle/>
        <a:p>
          <a:endParaRPr lang="en-US"/>
        </a:p>
      </dgm:t>
    </dgm:pt>
    <dgm:pt modelId="{18B25707-D657-48C7-A935-FC8EFEF4B59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Loss &amp; metric: MSE loss, MAE as evaluation metric. EarlyStopping used during training.</a:t>
          </a:r>
        </a:p>
      </dgm:t>
    </dgm:pt>
    <dgm:pt modelId="{61C8F17F-EDE1-4C65-B918-2B67023EEE1B}" type="parTrans" cxnId="{54C2F981-D830-4FB9-A428-A17FB9559D9A}">
      <dgm:prSet/>
      <dgm:spPr/>
      <dgm:t>
        <a:bodyPr/>
        <a:lstStyle/>
        <a:p>
          <a:endParaRPr lang="en-US"/>
        </a:p>
      </dgm:t>
    </dgm:pt>
    <dgm:pt modelId="{06FFF5B3-D573-4179-9DD8-93103AEDF5FA}" type="sibTrans" cxnId="{54C2F981-D830-4FB9-A428-A17FB9559D9A}">
      <dgm:prSet/>
      <dgm:spPr/>
      <dgm:t>
        <a:bodyPr/>
        <a:lstStyle/>
        <a:p>
          <a:endParaRPr lang="en-US"/>
        </a:p>
      </dgm:t>
    </dgm:pt>
    <dgm:pt modelId="{4A82AC5E-4832-4CAD-B2C2-8F3A4FB0141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Why MLP: Robust baseline for tabular data, fast to train, easy to interprete with feature attributions.</a:t>
          </a:r>
        </a:p>
      </dgm:t>
    </dgm:pt>
    <dgm:pt modelId="{C4880704-83CE-4493-B63D-A83B3F46059C}" type="parTrans" cxnId="{3B50C326-B608-428C-95E4-FE1C1091D30B}">
      <dgm:prSet/>
      <dgm:spPr/>
      <dgm:t>
        <a:bodyPr/>
        <a:lstStyle/>
        <a:p>
          <a:endParaRPr lang="en-US"/>
        </a:p>
      </dgm:t>
    </dgm:pt>
    <dgm:pt modelId="{E89792CF-149E-41B1-B844-8E9689713C3B}" type="sibTrans" cxnId="{3B50C326-B608-428C-95E4-FE1C1091D30B}">
      <dgm:prSet/>
      <dgm:spPr/>
      <dgm:t>
        <a:bodyPr/>
        <a:lstStyle/>
        <a:p>
          <a:endParaRPr lang="en-US"/>
        </a:p>
      </dgm:t>
    </dgm:pt>
    <dgm:pt modelId="{AE07EBF0-D0BF-4244-B251-C4105556FD11}" type="pres">
      <dgm:prSet presAssocID="{EB35DAD8-5600-4BC4-A387-5ADEFA4FBB7B}" presName="root" presStyleCnt="0">
        <dgm:presLayoutVars>
          <dgm:dir/>
          <dgm:resizeHandles val="exact"/>
        </dgm:presLayoutVars>
      </dgm:prSet>
      <dgm:spPr/>
    </dgm:pt>
    <dgm:pt modelId="{97E1F984-E748-4B23-8B76-5D7BC6126C4B}" type="pres">
      <dgm:prSet presAssocID="{3AD7CB23-FDDC-4DDD-BB33-DDEBCD0B7791}" presName="compNode" presStyleCnt="0"/>
      <dgm:spPr/>
    </dgm:pt>
    <dgm:pt modelId="{C81683EA-3961-4EF9-9DFB-8408626C3902}" type="pres">
      <dgm:prSet presAssocID="{3AD7CB23-FDDC-4DDD-BB33-DDEBCD0B779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5C37C8F-BF2F-4220-BB57-E8F8291DE009}" type="pres">
      <dgm:prSet presAssocID="{3AD7CB23-FDDC-4DDD-BB33-DDEBCD0B77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8645E505-98D5-44C9-8DBA-7810C035534E}" type="pres">
      <dgm:prSet presAssocID="{3AD7CB23-FDDC-4DDD-BB33-DDEBCD0B7791}" presName="spaceRect" presStyleCnt="0"/>
      <dgm:spPr/>
    </dgm:pt>
    <dgm:pt modelId="{5D147682-482B-4519-B4DA-C262768E7595}" type="pres">
      <dgm:prSet presAssocID="{3AD7CB23-FDDC-4DDD-BB33-DDEBCD0B7791}" presName="textRect" presStyleLbl="revTx" presStyleIdx="0" presStyleCnt="4">
        <dgm:presLayoutVars>
          <dgm:chMax val="1"/>
          <dgm:chPref val="1"/>
        </dgm:presLayoutVars>
      </dgm:prSet>
      <dgm:spPr/>
    </dgm:pt>
    <dgm:pt modelId="{F516F069-6196-4E6A-A893-18FB5D20DE15}" type="pres">
      <dgm:prSet presAssocID="{547B892C-8E70-46B4-9685-884B4838D2AF}" presName="sibTrans" presStyleCnt="0"/>
      <dgm:spPr/>
    </dgm:pt>
    <dgm:pt modelId="{A171D449-333A-4196-B428-2437C05ECCFF}" type="pres">
      <dgm:prSet presAssocID="{20A031FF-7334-484B-9038-9DCBEA447CEE}" presName="compNode" presStyleCnt="0"/>
      <dgm:spPr/>
    </dgm:pt>
    <dgm:pt modelId="{7CD549EC-80C8-414A-8751-E51130AFC4F7}" type="pres">
      <dgm:prSet presAssocID="{20A031FF-7334-484B-9038-9DCBEA447CEE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9C940CB-950B-46F3-BB03-DE2471B6547A}" type="pres">
      <dgm:prSet presAssocID="{20A031FF-7334-484B-9038-9DCBEA447CE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4D92241-9B0B-4825-AEAE-FF1993C2E1D3}" type="pres">
      <dgm:prSet presAssocID="{20A031FF-7334-484B-9038-9DCBEA447CEE}" presName="spaceRect" presStyleCnt="0"/>
      <dgm:spPr/>
    </dgm:pt>
    <dgm:pt modelId="{9F5EAC69-F731-45F3-AEF5-DC143258F905}" type="pres">
      <dgm:prSet presAssocID="{20A031FF-7334-484B-9038-9DCBEA447CEE}" presName="textRect" presStyleLbl="revTx" presStyleIdx="1" presStyleCnt="4">
        <dgm:presLayoutVars>
          <dgm:chMax val="1"/>
          <dgm:chPref val="1"/>
        </dgm:presLayoutVars>
      </dgm:prSet>
      <dgm:spPr/>
    </dgm:pt>
    <dgm:pt modelId="{7704D19E-19D5-4A20-BCC4-EF7C6B86DEBD}" type="pres">
      <dgm:prSet presAssocID="{A07F5376-520D-4295-9579-7A7578630754}" presName="sibTrans" presStyleCnt="0"/>
      <dgm:spPr/>
    </dgm:pt>
    <dgm:pt modelId="{55E32E00-482D-450E-B508-92A9DD8625B7}" type="pres">
      <dgm:prSet presAssocID="{18B25707-D657-48C7-A935-FC8EFEF4B59F}" presName="compNode" presStyleCnt="0"/>
      <dgm:spPr/>
    </dgm:pt>
    <dgm:pt modelId="{B291741E-E064-49B5-BA55-AE3A9330BD56}" type="pres">
      <dgm:prSet presAssocID="{18B25707-D657-48C7-A935-FC8EFEF4B59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973AA20-470A-4338-8CD5-09975EA9518C}" type="pres">
      <dgm:prSet presAssocID="{18B25707-D657-48C7-A935-FC8EFEF4B59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F46AB8FB-42A6-46BF-A202-EAA33A8B9C4E}" type="pres">
      <dgm:prSet presAssocID="{18B25707-D657-48C7-A935-FC8EFEF4B59F}" presName="spaceRect" presStyleCnt="0"/>
      <dgm:spPr/>
    </dgm:pt>
    <dgm:pt modelId="{9326309C-1217-450B-97F6-99176BBEC6C0}" type="pres">
      <dgm:prSet presAssocID="{18B25707-D657-48C7-A935-FC8EFEF4B59F}" presName="textRect" presStyleLbl="revTx" presStyleIdx="2" presStyleCnt="4">
        <dgm:presLayoutVars>
          <dgm:chMax val="1"/>
          <dgm:chPref val="1"/>
        </dgm:presLayoutVars>
      </dgm:prSet>
      <dgm:spPr/>
    </dgm:pt>
    <dgm:pt modelId="{7683DE9B-7F33-49A6-AC45-C33F0052CD75}" type="pres">
      <dgm:prSet presAssocID="{06FFF5B3-D573-4179-9DD8-93103AEDF5FA}" presName="sibTrans" presStyleCnt="0"/>
      <dgm:spPr/>
    </dgm:pt>
    <dgm:pt modelId="{1FD9B8CB-3578-4002-BD27-206E380C74BD}" type="pres">
      <dgm:prSet presAssocID="{4A82AC5E-4832-4CAD-B2C2-8F3A4FB0141F}" presName="compNode" presStyleCnt="0"/>
      <dgm:spPr/>
    </dgm:pt>
    <dgm:pt modelId="{1FB4F056-069D-431E-B0B9-2AF4289679AE}" type="pres">
      <dgm:prSet presAssocID="{4A82AC5E-4832-4CAD-B2C2-8F3A4FB0141F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7304124-21D1-49FD-A751-7CB22E9FCED5}" type="pres">
      <dgm:prSet presAssocID="{4A82AC5E-4832-4CAD-B2C2-8F3A4FB0141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E7B692A-03BA-492C-BD35-9B1C03E3B301}" type="pres">
      <dgm:prSet presAssocID="{4A82AC5E-4832-4CAD-B2C2-8F3A4FB0141F}" presName="spaceRect" presStyleCnt="0"/>
      <dgm:spPr/>
    </dgm:pt>
    <dgm:pt modelId="{2E24688A-CE0C-454A-BD51-662740F878FF}" type="pres">
      <dgm:prSet presAssocID="{4A82AC5E-4832-4CAD-B2C2-8F3A4FB0141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1BD5B26-4CBC-4F62-BE7A-3E63A0C4CE49}" type="presOf" srcId="{EB35DAD8-5600-4BC4-A387-5ADEFA4FBB7B}" destId="{AE07EBF0-D0BF-4244-B251-C4105556FD11}" srcOrd="0" destOrd="0" presId="urn:microsoft.com/office/officeart/2018/5/layout/IconLeafLabelList"/>
    <dgm:cxn modelId="{3B50C326-B608-428C-95E4-FE1C1091D30B}" srcId="{EB35DAD8-5600-4BC4-A387-5ADEFA4FBB7B}" destId="{4A82AC5E-4832-4CAD-B2C2-8F3A4FB0141F}" srcOrd="3" destOrd="0" parTransId="{C4880704-83CE-4493-B63D-A83B3F46059C}" sibTransId="{E89792CF-149E-41B1-B844-8E9689713C3B}"/>
    <dgm:cxn modelId="{23E5FE61-2A6F-4E6A-8628-14F5381C944E}" type="presOf" srcId="{3AD7CB23-FDDC-4DDD-BB33-DDEBCD0B7791}" destId="{5D147682-482B-4519-B4DA-C262768E7595}" srcOrd="0" destOrd="0" presId="urn:microsoft.com/office/officeart/2018/5/layout/IconLeafLabelList"/>
    <dgm:cxn modelId="{54C2F981-D830-4FB9-A428-A17FB9559D9A}" srcId="{EB35DAD8-5600-4BC4-A387-5ADEFA4FBB7B}" destId="{18B25707-D657-48C7-A935-FC8EFEF4B59F}" srcOrd="2" destOrd="0" parTransId="{61C8F17F-EDE1-4C65-B918-2B67023EEE1B}" sibTransId="{06FFF5B3-D573-4179-9DD8-93103AEDF5FA}"/>
    <dgm:cxn modelId="{3E7E1D93-D1DC-41C6-9747-4D5EEADD141F}" srcId="{EB35DAD8-5600-4BC4-A387-5ADEFA4FBB7B}" destId="{20A031FF-7334-484B-9038-9DCBEA447CEE}" srcOrd="1" destOrd="0" parTransId="{46A170EA-F737-4525-8A02-F4736BB662DC}" sibTransId="{A07F5376-520D-4295-9579-7A7578630754}"/>
    <dgm:cxn modelId="{F0049296-74F4-4B04-A199-12E979231B5A}" type="presOf" srcId="{4A82AC5E-4832-4CAD-B2C2-8F3A4FB0141F}" destId="{2E24688A-CE0C-454A-BD51-662740F878FF}" srcOrd="0" destOrd="0" presId="urn:microsoft.com/office/officeart/2018/5/layout/IconLeafLabelList"/>
    <dgm:cxn modelId="{766675AB-9241-4A53-9990-9D01C456A5D9}" srcId="{EB35DAD8-5600-4BC4-A387-5ADEFA4FBB7B}" destId="{3AD7CB23-FDDC-4DDD-BB33-DDEBCD0B7791}" srcOrd="0" destOrd="0" parTransId="{90A54CA5-3EBB-4F4D-9CBA-A3323DF97D82}" sibTransId="{547B892C-8E70-46B4-9685-884B4838D2AF}"/>
    <dgm:cxn modelId="{2B507AAF-B156-4245-B02D-1921B086E8AB}" type="presOf" srcId="{18B25707-D657-48C7-A935-FC8EFEF4B59F}" destId="{9326309C-1217-450B-97F6-99176BBEC6C0}" srcOrd="0" destOrd="0" presId="urn:microsoft.com/office/officeart/2018/5/layout/IconLeafLabelList"/>
    <dgm:cxn modelId="{6FDB86E4-2BE8-439E-97F6-5FFFD4AE7FA4}" type="presOf" srcId="{20A031FF-7334-484B-9038-9DCBEA447CEE}" destId="{9F5EAC69-F731-45F3-AEF5-DC143258F905}" srcOrd="0" destOrd="0" presId="urn:microsoft.com/office/officeart/2018/5/layout/IconLeafLabelList"/>
    <dgm:cxn modelId="{ECDB0EC6-8203-46E9-AA58-F7A4B5533A39}" type="presParOf" srcId="{AE07EBF0-D0BF-4244-B251-C4105556FD11}" destId="{97E1F984-E748-4B23-8B76-5D7BC6126C4B}" srcOrd="0" destOrd="0" presId="urn:microsoft.com/office/officeart/2018/5/layout/IconLeafLabelList"/>
    <dgm:cxn modelId="{35EC7860-1FA1-4F25-9E7A-992391DCBCFD}" type="presParOf" srcId="{97E1F984-E748-4B23-8B76-5D7BC6126C4B}" destId="{C81683EA-3961-4EF9-9DFB-8408626C3902}" srcOrd="0" destOrd="0" presId="urn:microsoft.com/office/officeart/2018/5/layout/IconLeafLabelList"/>
    <dgm:cxn modelId="{223E333C-28F8-45D3-B6C1-286DD92282FE}" type="presParOf" srcId="{97E1F984-E748-4B23-8B76-5D7BC6126C4B}" destId="{05C37C8F-BF2F-4220-BB57-E8F8291DE009}" srcOrd="1" destOrd="0" presId="urn:microsoft.com/office/officeart/2018/5/layout/IconLeafLabelList"/>
    <dgm:cxn modelId="{121D8B97-05AE-4183-B1BE-1072C6488BCB}" type="presParOf" srcId="{97E1F984-E748-4B23-8B76-5D7BC6126C4B}" destId="{8645E505-98D5-44C9-8DBA-7810C035534E}" srcOrd="2" destOrd="0" presId="urn:microsoft.com/office/officeart/2018/5/layout/IconLeafLabelList"/>
    <dgm:cxn modelId="{FD9CFF1D-8387-4DAA-A636-028408F0EE2A}" type="presParOf" srcId="{97E1F984-E748-4B23-8B76-5D7BC6126C4B}" destId="{5D147682-482B-4519-B4DA-C262768E7595}" srcOrd="3" destOrd="0" presId="urn:microsoft.com/office/officeart/2018/5/layout/IconLeafLabelList"/>
    <dgm:cxn modelId="{2B7986D6-BE82-419B-BA34-28D38613CCD6}" type="presParOf" srcId="{AE07EBF0-D0BF-4244-B251-C4105556FD11}" destId="{F516F069-6196-4E6A-A893-18FB5D20DE15}" srcOrd="1" destOrd="0" presId="urn:microsoft.com/office/officeart/2018/5/layout/IconLeafLabelList"/>
    <dgm:cxn modelId="{D33077EA-E017-476A-BE0A-56B84FF5C6AA}" type="presParOf" srcId="{AE07EBF0-D0BF-4244-B251-C4105556FD11}" destId="{A171D449-333A-4196-B428-2437C05ECCFF}" srcOrd="2" destOrd="0" presId="urn:microsoft.com/office/officeart/2018/5/layout/IconLeafLabelList"/>
    <dgm:cxn modelId="{D434AAC0-D6F2-4493-951D-0F269302734A}" type="presParOf" srcId="{A171D449-333A-4196-B428-2437C05ECCFF}" destId="{7CD549EC-80C8-414A-8751-E51130AFC4F7}" srcOrd="0" destOrd="0" presId="urn:microsoft.com/office/officeart/2018/5/layout/IconLeafLabelList"/>
    <dgm:cxn modelId="{CC1FB3BA-20FF-41A4-A965-54CCF66D2DBA}" type="presParOf" srcId="{A171D449-333A-4196-B428-2437C05ECCFF}" destId="{F9C940CB-950B-46F3-BB03-DE2471B6547A}" srcOrd="1" destOrd="0" presId="urn:microsoft.com/office/officeart/2018/5/layout/IconLeafLabelList"/>
    <dgm:cxn modelId="{4E35BAC7-582A-4F76-85AC-C7630FAFC02B}" type="presParOf" srcId="{A171D449-333A-4196-B428-2437C05ECCFF}" destId="{84D92241-9B0B-4825-AEAE-FF1993C2E1D3}" srcOrd="2" destOrd="0" presId="urn:microsoft.com/office/officeart/2018/5/layout/IconLeafLabelList"/>
    <dgm:cxn modelId="{EA0CBB9C-AB81-4E53-8B53-61A2F6956B81}" type="presParOf" srcId="{A171D449-333A-4196-B428-2437C05ECCFF}" destId="{9F5EAC69-F731-45F3-AEF5-DC143258F905}" srcOrd="3" destOrd="0" presId="urn:microsoft.com/office/officeart/2018/5/layout/IconLeafLabelList"/>
    <dgm:cxn modelId="{6314740A-3139-4EF9-AB30-5DE0F61AA369}" type="presParOf" srcId="{AE07EBF0-D0BF-4244-B251-C4105556FD11}" destId="{7704D19E-19D5-4A20-BCC4-EF7C6B86DEBD}" srcOrd="3" destOrd="0" presId="urn:microsoft.com/office/officeart/2018/5/layout/IconLeafLabelList"/>
    <dgm:cxn modelId="{A695EFC2-9769-4EBF-A979-DED2FE4D4239}" type="presParOf" srcId="{AE07EBF0-D0BF-4244-B251-C4105556FD11}" destId="{55E32E00-482D-450E-B508-92A9DD8625B7}" srcOrd="4" destOrd="0" presId="urn:microsoft.com/office/officeart/2018/5/layout/IconLeafLabelList"/>
    <dgm:cxn modelId="{EA680C50-F15B-4100-BD89-23EC4B7896D2}" type="presParOf" srcId="{55E32E00-482D-450E-B508-92A9DD8625B7}" destId="{B291741E-E064-49B5-BA55-AE3A9330BD56}" srcOrd="0" destOrd="0" presId="urn:microsoft.com/office/officeart/2018/5/layout/IconLeafLabelList"/>
    <dgm:cxn modelId="{AE60B550-66B3-4142-B410-8CF50F22F8ED}" type="presParOf" srcId="{55E32E00-482D-450E-B508-92A9DD8625B7}" destId="{A973AA20-470A-4338-8CD5-09975EA9518C}" srcOrd="1" destOrd="0" presId="urn:microsoft.com/office/officeart/2018/5/layout/IconLeafLabelList"/>
    <dgm:cxn modelId="{8E576878-A988-426C-8409-8BA4CA4A33E6}" type="presParOf" srcId="{55E32E00-482D-450E-B508-92A9DD8625B7}" destId="{F46AB8FB-42A6-46BF-A202-EAA33A8B9C4E}" srcOrd="2" destOrd="0" presId="urn:microsoft.com/office/officeart/2018/5/layout/IconLeafLabelList"/>
    <dgm:cxn modelId="{CD2318F9-B035-441C-BA10-37C7770620D6}" type="presParOf" srcId="{55E32E00-482D-450E-B508-92A9DD8625B7}" destId="{9326309C-1217-450B-97F6-99176BBEC6C0}" srcOrd="3" destOrd="0" presId="urn:microsoft.com/office/officeart/2018/5/layout/IconLeafLabelList"/>
    <dgm:cxn modelId="{725DC562-4002-4CA6-AB96-75C9A78DF9C4}" type="presParOf" srcId="{AE07EBF0-D0BF-4244-B251-C4105556FD11}" destId="{7683DE9B-7F33-49A6-AC45-C33F0052CD75}" srcOrd="5" destOrd="0" presId="urn:microsoft.com/office/officeart/2018/5/layout/IconLeafLabelList"/>
    <dgm:cxn modelId="{27E7CC4D-BC60-41A4-8272-BBD6EF528E46}" type="presParOf" srcId="{AE07EBF0-D0BF-4244-B251-C4105556FD11}" destId="{1FD9B8CB-3578-4002-BD27-206E380C74BD}" srcOrd="6" destOrd="0" presId="urn:microsoft.com/office/officeart/2018/5/layout/IconLeafLabelList"/>
    <dgm:cxn modelId="{ACA11E46-B623-4A32-9D63-97000A381A79}" type="presParOf" srcId="{1FD9B8CB-3578-4002-BD27-206E380C74BD}" destId="{1FB4F056-069D-431E-B0B9-2AF4289679AE}" srcOrd="0" destOrd="0" presId="urn:microsoft.com/office/officeart/2018/5/layout/IconLeafLabelList"/>
    <dgm:cxn modelId="{25B7E636-0296-4295-B47A-B2DDF72D8612}" type="presParOf" srcId="{1FD9B8CB-3578-4002-BD27-206E380C74BD}" destId="{A7304124-21D1-49FD-A751-7CB22E9FCED5}" srcOrd="1" destOrd="0" presId="urn:microsoft.com/office/officeart/2018/5/layout/IconLeafLabelList"/>
    <dgm:cxn modelId="{1ED9578F-765F-4F67-B209-E19B6DE17674}" type="presParOf" srcId="{1FD9B8CB-3578-4002-BD27-206E380C74BD}" destId="{0E7B692A-03BA-492C-BD35-9B1C03E3B301}" srcOrd="2" destOrd="0" presId="urn:microsoft.com/office/officeart/2018/5/layout/IconLeafLabelList"/>
    <dgm:cxn modelId="{3B00BC9B-CF04-4C36-886B-3658DA271966}" type="presParOf" srcId="{1FD9B8CB-3578-4002-BD27-206E380C74BD}" destId="{2E24688A-CE0C-454A-BD51-662740F878F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F220AB-F6A0-479B-B5A5-DB2A9118A2AA}" type="doc">
      <dgm:prSet loTypeId="urn:microsoft.com/office/officeart/2005/8/layout/cycle1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9CBAD58-F6CC-494D-B0E2-604D69CE2DC9}">
      <dgm:prSet/>
      <dgm:spPr/>
      <dgm:t>
        <a:bodyPr/>
        <a:lstStyle/>
        <a:p>
          <a:r>
            <a:rPr lang="en-US" dirty="0"/>
            <a:t>Training window: 2000–2015 (annual interpolated series). Test: 2020.</a:t>
          </a:r>
        </a:p>
      </dgm:t>
    </dgm:pt>
    <dgm:pt modelId="{1D75358F-F0B7-42A8-B0B5-0432B1528D7C}" type="parTrans" cxnId="{0B3B2988-A5BE-45F3-B036-C5F04FA20067}">
      <dgm:prSet/>
      <dgm:spPr/>
      <dgm:t>
        <a:bodyPr/>
        <a:lstStyle/>
        <a:p>
          <a:endParaRPr lang="en-US"/>
        </a:p>
      </dgm:t>
    </dgm:pt>
    <dgm:pt modelId="{4A10A8CB-5EFA-4CA0-ADF7-0D6F192F56D7}" type="sibTrans" cxnId="{0B3B2988-A5BE-45F3-B036-C5F04FA20067}">
      <dgm:prSet/>
      <dgm:spPr/>
      <dgm:t>
        <a:bodyPr/>
        <a:lstStyle/>
        <a:p>
          <a:endParaRPr lang="en-US"/>
        </a:p>
      </dgm:t>
    </dgm:pt>
    <dgm:pt modelId="{3FFDBB6F-35A8-4A3C-938E-5C168B2E8C11}">
      <dgm:prSet/>
      <dgm:spPr/>
      <dgm:t>
        <a:bodyPr/>
        <a:lstStyle/>
        <a:p>
          <a:r>
            <a:rPr lang="en-US" dirty="0"/>
            <a:t>Cross-site pooling: model trained across all sites to leverage spatial patterns.</a:t>
          </a:r>
        </a:p>
      </dgm:t>
    </dgm:pt>
    <dgm:pt modelId="{DEC9D64D-28E8-40E6-8979-5AC333F6B7A9}" type="parTrans" cxnId="{73192D4C-444B-42F9-BEF6-FADA93898612}">
      <dgm:prSet/>
      <dgm:spPr/>
      <dgm:t>
        <a:bodyPr/>
        <a:lstStyle/>
        <a:p>
          <a:endParaRPr lang="en-US"/>
        </a:p>
      </dgm:t>
    </dgm:pt>
    <dgm:pt modelId="{163467DC-ADFA-4804-A742-1D36FE3DBCFC}" type="sibTrans" cxnId="{73192D4C-444B-42F9-BEF6-FADA93898612}">
      <dgm:prSet/>
      <dgm:spPr/>
      <dgm:t>
        <a:bodyPr/>
        <a:lstStyle/>
        <a:p>
          <a:endParaRPr lang="en-US"/>
        </a:p>
      </dgm:t>
    </dgm:pt>
    <dgm:pt modelId="{ABFEE93B-A173-4F88-8CC8-829D9D66BF68}">
      <dgm:prSet/>
      <dgm:spPr/>
      <dgm:t>
        <a:bodyPr/>
        <a:lstStyle/>
        <a:p>
          <a:r>
            <a:rPr lang="en-US" dirty="0"/>
            <a:t>Feature engineering: lags, rolling averages, seasonal encodings (month sine/cos), spatial neighbor means.</a:t>
          </a:r>
        </a:p>
      </dgm:t>
    </dgm:pt>
    <dgm:pt modelId="{9A9386C3-44E9-4BF9-82EE-6CA93F36BEA3}" type="parTrans" cxnId="{5C93E30B-9426-4537-8CBE-19471CD6AE21}">
      <dgm:prSet/>
      <dgm:spPr/>
      <dgm:t>
        <a:bodyPr/>
        <a:lstStyle/>
        <a:p>
          <a:endParaRPr lang="en-US"/>
        </a:p>
      </dgm:t>
    </dgm:pt>
    <dgm:pt modelId="{727208DD-F08F-48FD-9875-9FEFF3342C1A}" type="sibTrans" cxnId="{5C93E30B-9426-4537-8CBE-19471CD6AE21}">
      <dgm:prSet/>
      <dgm:spPr/>
      <dgm:t>
        <a:bodyPr/>
        <a:lstStyle/>
        <a:p>
          <a:endParaRPr lang="en-US"/>
        </a:p>
      </dgm:t>
    </dgm:pt>
    <dgm:pt modelId="{90DC9BA1-5789-4255-9B5C-A5954D9D6760}">
      <dgm:prSet/>
      <dgm:spPr/>
      <dgm:t>
        <a:bodyPr/>
        <a:lstStyle/>
        <a:p>
          <a:r>
            <a:rPr lang="en-US" dirty="0"/>
            <a:t>Evaluation: MAE &amp; RMSE on hold-out 2020; visual inspection of predicted vs observed maps and time series.</a:t>
          </a:r>
        </a:p>
      </dgm:t>
    </dgm:pt>
    <dgm:pt modelId="{6CA9081F-F6C1-4569-B8DF-34050D6730C0}" type="parTrans" cxnId="{80C9215A-B58E-4EE9-9D6F-4C33AEDB501F}">
      <dgm:prSet/>
      <dgm:spPr/>
      <dgm:t>
        <a:bodyPr/>
        <a:lstStyle/>
        <a:p>
          <a:endParaRPr lang="en-US"/>
        </a:p>
      </dgm:t>
    </dgm:pt>
    <dgm:pt modelId="{D8D784A9-4ED8-4B74-846F-9FED08EC5C80}" type="sibTrans" cxnId="{80C9215A-B58E-4EE9-9D6F-4C33AEDB501F}">
      <dgm:prSet/>
      <dgm:spPr/>
      <dgm:t>
        <a:bodyPr/>
        <a:lstStyle/>
        <a:p>
          <a:endParaRPr lang="en-US"/>
        </a:p>
      </dgm:t>
    </dgm:pt>
    <dgm:pt modelId="{F4E414DF-090C-4A3D-84E9-F77E55C17DB2}" type="pres">
      <dgm:prSet presAssocID="{D8F220AB-F6A0-479B-B5A5-DB2A9118A2AA}" presName="cycle" presStyleCnt="0">
        <dgm:presLayoutVars>
          <dgm:dir/>
          <dgm:resizeHandles val="exact"/>
        </dgm:presLayoutVars>
      </dgm:prSet>
      <dgm:spPr/>
    </dgm:pt>
    <dgm:pt modelId="{8300C473-F30C-4D7F-BDDC-A64DDA1A8AE5}" type="pres">
      <dgm:prSet presAssocID="{F9CBAD58-F6CC-494D-B0E2-604D69CE2DC9}" presName="dummy" presStyleCnt="0"/>
      <dgm:spPr/>
    </dgm:pt>
    <dgm:pt modelId="{A1030A6E-1D7C-41E3-860D-17D5048B6B16}" type="pres">
      <dgm:prSet presAssocID="{F9CBAD58-F6CC-494D-B0E2-604D69CE2DC9}" presName="node" presStyleLbl="revTx" presStyleIdx="0" presStyleCnt="4" custRadScaleRad="129675" custRadScaleInc="53987">
        <dgm:presLayoutVars>
          <dgm:bulletEnabled val="1"/>
        </dgm:presLayoutVars>
      </dgm:prSet>
      <dgm:spPr/>
    </dgm:pt>
    <dgm:pt modelId="{113D7708-524F-4141-998E-969F5DEED433}" type="pres">
      <dgm:prSet presAssocID="{4A10A8CB-5EFA-4CA0-ADF7-0D6F192F56D7}" presName="sibTrans" presStyleLbl="node1" presStyleIdx="0" presStyleCnt="4"/>
      <dgm:spPr/>
    </dgm:pt>
    <dgm:pt modelId="{840D993D-C5CC-4FD7-9DDA-19508099D8FA}" type="pres">
      <dgm:prSet presAssocID="{3FFDBB6F-35A8-4A3C-938E-5C168B2E8C11}" presName="dummy" presStyleCnt="0"/>
      <dgm:spPr/>
    </dgm:pt>
    <dgm:pt modelId="{5A7119F5-3C9B-4728-8BEB-74230299E310}" type="pres">
      <dgm:prSet presAssocID="{3FFDBB6F-35A8-4A3C-938E-5C168B2E8C11}" presName="node" presStyleLbl="revTx" presStyleIdx="1" presStyleCnt="4" custRadScaleRad="124720" custRadScaleInc="-24962">
        <dgm:presLayoutVars>
          <dgm:bulletEnabled val="1"/>
        </dgm:presLayoutVars>
      </dgm:prSet>
      <dgm:spPr/>
    </dgm:pt>
    <dgm:pt modelId="{DB6FCFBB-C3D0-478D-A3C9-6745225330EA}" type="pres">
      <dgm:prSet presAssocID="{163467DC-ADFA-4804-A742-1D36FE3DBCFC}" presName="sibTrans" presStyleLbl="node1" presStyleIdx="1" presStyleCnt="4"/>
      <dgm:spPr/>
    </dgm:pt>
    <dgm:pt modelId="{73604DBE-8AC4-4580-8B3A-5E465BBCA1A8}" type="pres">
      <dgm:prSet presAssocID="{ABFEE93B-A173-4F88-8CC8-829D9D66BF68}" presName="dummy" presStyleCnt="0"/>
      <dgm:spPr/>
    </dgm:pt>
    <dgm:pt modelId="{90A5CC01-899D-4081-A8AF-4CB549478BBD}" type="pres">
      <dgm:prSet presAssocID="{ABFEE93B-A173-4F88-8CC8-829D9D66BF68}" presName="node" presStyleLbl="revTx" presStyleIdx="2" presStyleCnt="4" custRadScaleRad="129960" custRadScaleInc="53230">
        <dgm:presLayoutVars>
          <dgm:bulletEnabled val="1"/>
        </dgm:presLayoutVars>
      </dgm:prSet>
      <dgm:spPr/>
    </dgm:pt>
    <dgm:pt modelId="{3895620F-56A8-44EB-A520-AD8FB2108B53}" type="pres">
      <dgm:prSet presAssocID="{727208DD-F08F-48FD-9875-9FEFF3342C1A}" presName="sibTrans" presStyleLbl="node1" presStyleIdx="2" presStyleCnt="4"/>
      <dgm:spPr/>
    </dgm:pt>
    <dgm:pt modelId="{9E2FD2CD-CB1D-443F-A668-DE953FFDC002}" type="pres">
      <dgm:prSet presAssocID="{90DC9BA1-5789-4255-9B5C-A5954D9D6760}" presName="dummy" presStyleCnt="0"/>
      <dgm:spPr/>
    </dgm:pt>
    <dgm:pt modelId="{00E8473C-EA92-41DB-A2BA-688AE493A229}" type="pres">
      <dgm:prSet presAssocID="{90DC9BA1-5789-4255-9B5C-A5954D9D6760}" presName="node" presStyleLbl="revTx" presStyleIdx="3" presStyleCnt="4" custScaleX="173469" custRadScaleRad="125300" custRadScaleInc="-32857">
        <dgm:presLayoutVars>
          <dgm:bulletEnabled val="1"/>
        </dgm:presLayoutVars>
      </dgm:prSet>
      <dgm:spPr/>
    </dgm:pt>
    <dgm:pt modelId="{4CC60D64-8819-4AFB-A1AA-F4F4B03D6FA8}" type="pres">
      <dgm:prSet presAssocID="{D8D784A9-4ED8-4B74-846F-9FED08EC5C80}" presName="sibTrans" presStyleLbl="node1" presStyleIdx="3" presStyleCnt="4" custLinFactNeighborX="-3250" custLinFactNeighborY="4000"/>
      <dgm:spPr/>
    </dgm:pt>
  </dgm:ptLst>
  <dgm:cxnLst>
    <dgm:cxn modelId="{070E3D04-4FC1-48D1-91E1-ABCD3F4E8014}" type="presOf" srcId="{90DC9BA1-5789-4255-9B5C-A5954D9D6760}" destId="{00E8473C-EA92-41DB-A2BA-688AE493A229}" srcOrd="0" destOrd="0" presId="urn:microsoft.com/office/officeart/2005/8/layout/cycle1"/>
    <dgm:cxn modelId="{9B438807-F852-4921-9E86-1C716C193166}" type="presOf" srcId="{D8D784A9-4ED8-4B74-846F-9FED08EC5C80}" destId="{4CC60D64-8819-4AFB-A1AA-F4F4B03D6FA8}" srcOrd="0" destOrd="0" presId="urn:microsoft.com/office/officeart/2005/8/layout/cycle1"/>
    <dgm:cxn modelId="{5C93E30B-9426-4537-8CBE-19471CD6AE21}" srcId="{D8F220AB-F6A0-479B-B5A5-DB2A9118A2AA}" destId="{ABFEE93B-A173-4F88-8CC8-829D9D66BF68}" srcOrd="2" destOrd="0" parTransId="{9A9386C3-44E9-4BF9-82EE-6CA93F36BEA3}" sibTransId="{727208DD-F08F-48FD-9875-9FEFF3342C1A}"/>
    <dgm:cxn modelId="{EEA4B35D-E5D7-4BEF-B56B-1C2942FCDD0D}" type="presOf" srcId="{727208DD-F08F-48FD-9875-9FEFF3342C1A}" destId="{3895620F-56A8-44EB-A520-AD8FB2108B53}" srcOrd="0" destOrd="0" presId="urn:microsoft.com/office/officeart/2005/8/layout/cycle1"/>
    <dgm:cxn modelId="{52A3AD66-70DB-4C3A-BD1A-97F8AA991334}" type="presOf" srcId="{D8F220AB-F6A0-479B-B5A5-DB2A9118A2AA}" destId="{F4E414DF-090C-4A3D-84E9-F77E55C17DB2}" srcOrd="0" destOrd="0" presId="urn:microsoft.com/office/officeart/2005/8/layout/cycle1"/>
    <dgm:cxn modelId="{73192D4C-444B-42F9-BEF6-FADA93898612}" srcId="{D8F220AB-F6A0-479B-B5A5-DB2A9118A2AA}" destId="{3FFDBB6F-35A8-4A3C-938E-5C168B2E8C11}" srcOrd="1" destOrd="0" parTransId="{DEC9D64D-28E8-40E6-8979-5AC333F6B7A9}" sibTransId="{163467DC-ADFA-4804-A742-1D36FE3DBCFC}"/>
    <dgm:cxn modelId="{5782A854-189E-452D-A7D6-9F4B60C243E9}" type="presOf" srcId="{4A10A8CB-5EFA-4CA0-ADF7-0D6F192F56D7}" destId="{113D7708-524F-4141-998E-969F5DEED433}" srcOrd="0" destOrd="0" presId="urn:microsoft.com/office/officeart/2005/8/layout/cycle1"/>
    <dgm:cxn modelId="{80C9215A-B58E-4EE9-9D6F-4C33AEDB501F}" srcId="{D8F220AB-F6A0-479B-B5A5-DB2A9118A2AA}" destId="{90DC9BA1-5789-4255-9B5C-A5954D9D6760}" srcOrd="3" destOrd="0" parTransId="{6CA9081F-F6C1-4569-B8DF-34050D6730C0}" sibTransId="{D8D784A9-4ED8-4B74-846F-9FED08EC5C80}"/>
    <dgm:cxn modelId="{0B3B2988-A5BE-45F3-B036-C5F04FA20067}" srcId="{D8F220AB-F6A0-479B-B5A5-DB2A9118A2AA}" destId="{F9CBAD58-F6CC-494D-B0E2-604D69CE2DC9}" srcOrd="0" destOrd="0" parTransId="{1D75358F-F0B7-42A8-B0B5-0432B1528D7C}" sibTransId="{4A10A8CB-5EFA-4CA0-ADF7-0D6F192F56D7}"/>
    <dgm:cxn modelId="{7F380F99-7437-4DE3-8323-F8D2EEB3F71E}" type="presOf" srcId="{F9CBAD58-F6CC-494D-B0E2-604D69CE2DC9}" destId="{A1030A6E-1D7C-41E3-860D-17D5048B6B16}" srcOrd="0" destOrd="0" presId="urn:microsoft.com/office/officeart/2005/8/layout/cycle1"/>
    <dgm:cxn modelId="{625E27D5-7900-43E5-8431-53CA7DEEDBE2}" type="presOf" srcId="{ABFEE93B-A173-4F88-8CC8-829D9D66BF68}" destId="{90A5CC01-899D-4081-A8AF-4CB549478BBD}" srcOrd="0" destOrd="0" presId="urn:microsoft.com/office/officeart/2005/8/layout/cycle1"/>
    <dgm:cxn modelId="{316672E1-954E-47E2-8D41-237E733389FA}" type="presOf" srcId="{3FFDBB6F-35A8-4A3C-938E-5C168B2E8C11}" destId="{5A7119F5-3C9B-4728-8BEB-74230299E310}" srcOrd="0" destOrd="0" presId="urn:microsoft.com/office/officeart/2005/8/layout/cycle1"/>
    <dgm:cxn modelId="{0EAD45EA-6834-46B7-896E-A7059E94BFE9}" type="presOf" srcId="{163467DC-ADFA-4804-A742-1D36FE3DBCFC}" destId="{DB6FCFBB-C3D0-478D-A3C9-6745225330EA}" srcOrd="0" destOrd="0" presId="urn:microsoft.com/office/officeart/2005/8/layout/cycle1"/>
    <dgm:cxn modelId="{083082FC-7A67-4BDE-885E-741884796424}" type="presParOf" srcId="{F4E414DF-090C-4A3D-84E9-F77E55C17DB2}" destId="{8300C473-F30C-4D7F-BDDC-A64DDA1A8AE5}" srcOrd="0" destOrd="0" presId="urn:microsoft.com/office/officeart/2005/8/layout/cycle1"/>
    <dgm:cxn modelId="{D9D8090E-AC90-4D32-9F90-DE8680639DE7}" type="presParOf" srcId="{F4E414DF-090C-4A3D-84E9-F77E55C17DB2}" destId="{A1030A6E-1D7C-41E3-860D-17D5048B6B16}" srcOrd="1" destOrd="0" presId="urn:microsoft.com/office/officeart/2005/8/layout/cycle1"/>
    <dgm:cxn modelId="{4CE919C6-9322-4EC1-BB32-2E7776BEA734}" type="presParOf" srcId="{F4E414DF-090C-4A3D-84E9-F77E55C17DB2}" destId="{113D7708-524F-4141-998E-969F5DEED433}" srcOrd="2" destOrd="0" presId="urn:microsoft.com/office/officeart/2005/8/layout/cycle1"/>
    <dgm:cxn modelId="{63DCAF02-3165-484E-AEA5-E7DEFEDC0058}" type="presParOf" srcId="{F4E414DF-090C-4A3D-84E9-F77E55C17DB2}" destId="{840D993D-C5CC-4FD7-9DDA-19508099D8FA}" srcOrd="3" destOrd="0" presId="urn:microsoft.com/office/officeart/2005/8/layout/cycle1"/>
    <dgm:cxn modelId="{3EB2B5A2-DBB8-4B35-82AF-09C5EFA9454D}" type="presParOf" srcId="{F4E414DF-090C-4A3D-84E9-F77E55C17DB2}" destId="{5A7119F5-3C9B-4728-8BEB-74230299E310}" srcOrd="4" destOrd="0" presId="urn:microsoft.com/office/officeart/2005/8/layout/cycle1"/>
    <dgm:cxn modelId="{F1DCF5DB-15D6-464B-AD62-1E5F9339B3C1}" type="presParOf" srcId="{F4E414DF-090C-4A3D-84E9-F77E55C17DB2}" destId="{DB6FCFBB-C3D0-478D-A3C9-6745225330EA}" srcOrd="5" destOrd="0" presId="urn:microsoft.com/office/officeart/2005/8/layout/cycle1"/>
    <dgm:cxn modelId="{FAA52C2A-0C4F-4825-A0A8-0C9B5EF12E3B}" type="presParOf" srcId="{F4E414DF-090C-4A3D-84E9-F77E55C17DB2}" destId="{73604DBE-8AC4-4580-8B3A-5E465BBCA1A8}" srcOrd="6" destOrd="0" presId="urn:microsoft.com/office/officeart/2005/8/layout/cycle1"/>
    <dgm:cxn modelId="{7004FF39-09DA-4B05-AAEC-CB5011B5F09D}" type="presParOf" srcId="{F4E414DF-090C-4A3D-84E9-F77E55C17DB2}" destId="{90A5CC01-899D-4081-A8AF-4CB549478BBD}" srcOrd="7" destOrd="0" presId="urn:microsoft.com/office/officeart/2005/8/layout/cycle1"/>
    <dgm:cxn modelId="{AB97F63A-A90B-4E81-A167-883887D44B10}" type="presParOf" srcId="{F4E414DF-090C-4A3D-84E9-F77E55C17DB2}" destId="{3895620F-56A8-44EB-A520-AD8FB2108B53}" srcOrd="8" destOrd="0" presId="urn:microsoft.com/office/officeart/2005/8/layout/cycle1"/>
    <dgm:cxn modelId="{A05B2C16-4B36-4539-883D-CBF9F62D6F01}" type="presParOf" srcId="{F4E414DF-090C-4A3D-84E9-F77E55C17DB2}" destId="{9E2FD2CD-CB1D-443F-A668-DE953FFDC002}" srcOrd="9" destOrd="0" presId="urn:microsoft.com/office/officeart/2005/8/layout/cycle1"/>
    <dgm:cxn modelId="{5FE85337-852E-472A-A860-F73666CFE786}" type="presParOf" srcId="{F4E414DF-090C-4A3D-84E9-F77E55C17DB2}" destId="{00E8473C-EA92-41DB-A2BA-688AE493A229}" srcOrd="10" destOrd="0" presId="urn:microsoft.com/office/officeart/2005/8/layout/cycle1"/>
    <dgm:cxn modelId="{9B6C8FF0-3020-40BF-BF15-16E8EBD996F7}" type="presParOf" srcId="{F4E414DF-090C-4A3D-84E9-F77E55C17DB2}" destId="{4CC60D64-8819-4AFB-A1AA-F4F4B03D6FA8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2F994B2-053C-485F-98D4-B794A090311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CAB58DD-1FBD-41F1-B8FF-E1DE8E01985B}">
      <dgm:prSet/>
      <dgm:spPr/>
      <dgm:t>
        <a:bodyPr/>
        <a:lstStyle/>
        <a:p>
          <a:pPr>
            <a:defRPr cap="all"/>
          </a:pPr>
          <a:r>
            <a:rPr lang="en-US" dirty="0"/>
            <a:t>Key metrics on test (2020): MAE =</a:t>
          </a:r>
          <a:r>
            <a:rPr lang="en-US" b="1" dirty="0"/>
            <a:t> 0.0452, </a:t>
          </a:r>
          <a:r>
            <a:rPr lang="en-US" b="0" dirty="0"/>
            <a:t>loss = </a:t>
          </a:r>
          <a:r>
            <a:rPr lang="en-US" b="1" dirty="0"/>
            <a:t>0.0025</a:t>
          </a:r>
          <a:endParaRPr lang="en-US" dirty="0"/>
        </a:p>
      </dgm:t>
    </dgm:pt>
    <dgm:pt modelId="{C13B3E5F-2B73-4290-B556-1885291EAAF5}" type="parTrans" cxnId="{8A5B6020-05AA-43F5-A5ED-3B99494F0B35}">
      <dgm:prSet/>
      <dgm:spPr/>
      <dgm:t>
        <a:bodyPr/>
        <a:lstStyle/>
        <a:p>
          <a:endParaRPr lang="en-US"/>
        </a:p>
      </dgm:t>
    </dgm:pt>
    <dgm:pt modelId="{45005B2A-A308-40C0-911E-FBFC68E21FB0}" type="sibTrans" cxnId="{8A5B6020-05AA-43F5-A5ED-3B99494F0B35}">
      <dgm:prSet/>
      <dgm:spPr/>
      <dgm:t>
        <a:bodyPr/>
        <a:lstStyle/>
        <a:p>
          <a:endParaRPr lang="en-US"/>
        </a:p>
      </dgm:t>
    </dgm:pt>
    <dgm:pt modelId="{454482F1-0FEE-40B3-9FE4-89C97526BBC3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chemeClr val="accent3">
                  <a:lumMod val="75000"/>
                </a:schemeClr>
              </a:solidFill>
            </a:rPr>
            <a:t>Diagnostics: residual maps, predicted vs observed scatter plots, distribution of errors by region.</a:t>
          </a:r>
        </a:p>
      </dgm:t>
    </dgm:pt>
    <dgm:pt modelId="{E8750018-364C-4A0D-90FB-891AB0C8570B}" type="parTrans" cxnId="{27DF7BD7-2ABA-4E77-B867-2FA82DF47926}">
      <dgm:prSet/>
      <dgm:spPr/>
      <dgm:t>
        <a:bodyPr/>
        <a:lstStyle/>
        <a:p>
          <a:endParaRPr lang="en-US"/>
        </a:p>
      </dgm:t>
    </dgm:pt>
    <dgm:pt modelId="{B9766ADE-3376-4941-9C83-5CA08E277C30}" type="sibTrans" cxnId="{27DF7BD7-2ABA-4E77-B867-2FA82DF47926}">
      <dgm:prSet/>
      <dgm:spPr/>
      <dgm:t>
        <a:bodyPr/>
        <a:lstStyle/>
        <a:p>
          <a:endParaRPr lang="en-US"/>
        </a:p>
      </dgm:t>
    </dgm:pt>
    <dgm:pt modelId="{E78118AB-1008-42BD-B6D7-9EE8507A25C3}">
      <dgm:prSet/>
      <dgm:spPr/>
      <dgm:t>
        <a:bodyPr/>
        <a:lstStyle/>
        <a:p>
          <a:pPr>
            <a:defRPr cap="all"/>
          </a:pPr>
          <a:r>
            <a:rPr lang="en-US" dirty="0"/>
            <a:t>Overfitting checks: training vs validation loss curves, early stopping behavior.</a:t>
          </a:r>
        </a:p>
      </dgm:t>
    </dgm:pt>
    <dgm:pt modelId="{3A2493F6-D6E0-4DD7-988E-00DDB59C4044}" type="parTrans" cxnId="{9E206DEC-6494-438C-858E-7C2CF28E49CD}">
      <dgm:prSet/>
      <dgm:spPr/>
      <dgm:t>
        <a:bodyPr/>
        <a:lstStyle/>
        <a:p>
          <a:endParaRPr lang="en-US"/>
        </a:p>
      </dgm:t>
    </dgm:pt>
    <dgm:pt modelId="{22503EA1-C094-46EA-B256-099CC5B377BC}" type="sibTrans" cxnId="{9E206DEC-6494-438C-858E-7C2CF28E49CD}">
      <dgm:prSet/>
      <dgm:spPr/>
      <dgm:t>
        <a:bodyPr/>
        <a:lstStyle/>
        <a:p>
          <a:endParaRPr lang="en-US"/>
        </a:p>
      </dgm:t>
    </dgm:pt>
    <dgm:pt modelId="{BBC038CE-1EAC-4041-8C62-B8EC093120B9}">
      <dgm:prSet/>
      <dgm:spPr/>
      <dgm:t>
        <a:bodyPr/>
        <a:lstStyle/>
        <a:p>
          <a:pPr>
            <a:defRPr cap="all"/>
          </a:pPr>
          <a:r>
            <a:rPr lang="en-US" dirty="0"/>
            <a:t>Feature importance: SHAP summary shows top contributors (e.g., rainfall, EVI, ITN coverage, nightlights).</a:t>
          </a:r>
        </a:p>
      </dgm:t>
    </dgm:pt>
    <dgm:pt modelId="{9B8CF9C6-5F5C-4596-89AF-3E9C96C5210F}" type="parTrans" cxnId="{36819F16-16D9-4184-AF35-82782C26B756}">
      <dgm:prSet/>
      <dgm:spPr/>
      <dgm:t>
        <a:bodyPr/>
        <a:lstStyle/>
        <a:p>
          <a:endParaRPr lang="en-US"/>
        </a:p>
      </dgm:t>
    </dgm:pt>
    <dgm:pt modelId="{7E9BD94D-997D-468E-992F-402F4B38FE24}" type="sibTrans" cxnId="{36819F16-16D9-4184-AF35-82782C26B756}">
      <dgm:prSet/>
      <dgm:spPr/>
      <dgm:t>
        <a:bodyPr/>
        <a:lstStyle/>
        <a:p>
          <a:endParaRPr lang="en-US"/>
        </a:p>
      </dgm:t>
    </dgm:pt>
    <dgm:pt modelId="{1606F3AB-A5AE-47AF-ACE1-12E4DEE9DA0A}" type="pres">
      <dgm:prSet presAssocID="{E2F994B2-053C-485F-98D4-B794A0903110}" presName="root" presStyleCnt="0">
        <dgm:presLayoutVars>
          <dgm:dir/>
          <dgm:resizeHandles val="exact"/>
        </dgm:presLayoutVars>
      </dgm:prSet>
      <dgm:spPr/>
    </dgm:pt>
    <dgm:pt modelId="{68BBF048-3FAD-4C78-A2EC-4F2DC642C1DC}" type="pres">
      <dgm:prSet presAssocID="{2CAB58DD-1FBD-41F1-B8FF-E1DE8E01985B}" presName="compNode" presStyleCnt="0"/>
      <dgm:spPr/>
    </dgm:pt>
    <dgm:pt modelId="{68CC77CD-7A28-45E2-A117-1BCE11B85133}" type="pres">
      <dgm:prSet presAssocID="{2CAB58DD-1FBD-41F1-B8FF-E1DE8E01985B}" presName="iconBgRect" presStyleLbl="bgShp" presStyleIdx="0" presStyleCnt="4"/>
      <dgm:spPr/>
    </dgm:pt>
    <dgm:pt modelId="{B228B1BA-1C1C-45E5-B9D8-D8FF8E092751}" type="pres">
      <dgm:prSet presAssocID="{2CAB58DD-1FBD-41F1-B8FF-E1DE8E01985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2723015-29AD-49C1-9E7D-48E5A36E698C}" type="pres">
      <dgm:prSet presAssocID="{2CAB58DD-1FBD-41F1-B8FF-E1DE8E01985B}" presName="spaceRect" presStyleCnt="0"/>
      <dgm:spPr/>
    </dgm:pt>
    <dgm:pt modelId="{83F71BDC-835C-4EF0-AF5C-17162E80E7F8}" type="pres">
      <dgm:prSet presAssocID="{2CAB58DD-1FBD-41F1-B8FF-E1DE8E01985B}" presName="textRect" presStyleLbl="revTx" presStyleIdx="0" presStyleCnt="4" custScaleX="91455">
        <dgm:presLayoutVars>
          <dgm:chMax val="1"/>
          <dgm:chPref val="1"/>
        </dgm:presLayoutVars>
      </dgm:prSet>
      <dgm:spPr/>
    </dgm:pt>
    <dgm:pt modelId="{462B61A8-FE47-45BD-B928-71B3FC975ED3}" type="pres">
      <dgm:prSet presAssocID="{45005B2A-A308-40C0-911E-FBFC68E21FB0}" presName="sibTrans" presStyleCnt="0"/>
      <dgm:spPr/>
    </dgm:pt>
    <dgm:pt modelId="{AB05325A-01B4-48A0-913B-A457798E362A}" type="pres">
      <dgm:prSet presAssocID="{454482F1-0FEE-40B3-9FE4-89C97526BBC3}" presName="compNode" presStyleCnt="0"/>
      <dgm:spPr/>
    </dgm:pt>
    <dgm:pt modelId="{4435C7B0-8019-47EC-9FCB-05B2CF483D64}" type="pres">
      <dgm:prSet presAssocID="{454482F1-0FEE-40B3-9FE4-89C97526BBC3}" presName="iconBgRect" presStyleLbl="bgShp" presStyleIdx="1" presStyleCnt="4"/>
      <dgm:spPr/>
    </dgm:pt>
    <dgm:pt modelId="{2C76AD26-0F6C-44EB-A1BD-5759487C3433}" type="pres">
      <dgm:prSet presAssocID="{454482F1-0FEE-40B3-9FE4-89C97526BB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39168B8-0DCB-44C9-96BD-26DC69E8D267}" type="pres">
      <dgm:prSet presAssocID="{454482F1-0FEE-40B3-9FE4-89C97526BBC3}" presName="spaceRect" presStyleCnt="0"/>
      <dgm:spPr/>
    </dgm:pt>
    <dgm:pt modelId="{DC85DB3F-FB28-4B5A-933F-BD99BF878EF1}" type="pres">
      <dgm:prSet presAssocID="{454482F1-0FEE-40B3-9FE4-89C97526BBC3}" presName="textRect" presStyleLbl="revTx" presStyleIdx="1" presStyleCnt="4">
        <dgm:presLayoutVars>
          <dgm:chMax val="1"/>
          <dgm:chPref val="1"/>
        </dgm:presLayoutVars>
      </dgm:prSet>
      <dgm:spPr/>
    </dgm:pt>
    <dgm:pt modelId="{4209130B-4C24-4FC0-AD30-641E3E3AEF6D}" type="pres">
      <dgm:prSet presAssocID="{B9766ADE-3376-4941-9C83-5CA08E277C30}" presName="sibTrans" presStyleCnt="0"/>
      <dgm:spPr/>
    </dgm:pt>
    <dgm:pt modelId="{B9B426BE-5B60-4889-AFD4-CE1EABE4C483}" type="pres">
      <dgm:prSet presAssocID="{E78118AB-1008-42BD-B6D7-9EE8507A25C3}" presName="compNode" presStyleCnt="0"/>
      <dgm:spPr/>
    </dgm:pt>
    <dgm:pt modelId="{A7E9D33B-A044-49D5-846E-3D244E4EA7EE}" type="pres">
      <dgm:prSet presAssocID="{E78118AB-1008-42BD-B6D7-9EE8507A25C3}" presName="iconBgRect" presStyleLbl="bgShp" presStyleIdx="2" presStyleCnt="4"/>
      <dgm:spPr/>
    </dgm:pt>
    <dgm:pt modelId="{3D12A38D-BDC1-4DA1-A9D3-947EE45DE367}" type="pres">
      <dgm:prSet presAssocID="{E78118AB-1008-42BD-B6D7-9EE8507A25C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39F40B7B-95B5-46C9-ADE0-64775EB0D3B3}" type="pres">
      <dgm:prSet presAssocID="{E78118AB-1008-42BD-B6D7-9EE8507A25C3}" presName="spaceRect" presStyleCnt="0"/>
      <dgm:spPr/>
    </dgm:pt>
    <dgm:pt modelId="{43065B81-AEA7-47F1-8F07-4C9238FD791B}" type="pres">
      <dgm:prSet presAssocID="{E78118AB-1008-42BD-B6D7-9EE8507A25C3}" presName="textRect" presStyleLbl="revTx" presStyleIdx="2" presStyleCnt="4">
        <dgm:presLayoutVars>
          <dgm:chMax val="1"/>
          <dgm:chPref val="1"/>
        </dgm:presLayoutVars>
      </dgm:prSet>
      <dgm:spPr/>
    </dgm:pt>
    <dgm:pt modelId="{113315F8-D97B-4048-99B6-363B9C732504}" type="pres">
      <dgm:prSet presAssocID="{22503EA1-C094-46EA-B256-099CC5B377BC}" presName="sibTrans" presStyleCnt="0"/>
      <dgm:spPr/>
    </dgm:pt>
    <dgm:pt modelId="{0AE859E8-A170-4B6D-8C69-AC57D2A16A92}" type="pres">
      <dgm:prSet presAssocID="{BBC038CE-1EAC-4041-8C62-B8EC093120B9}" presName="compNode" presStyleCnt="0"/>
      <dgm:spPr/>
    </dgm:pt>
    <dgm:pt modelId="{F50C0666-798A-4D8F-9BD7-EF10517AB523}" type="pres">
      <dgm:prSet presAssocID="{BBC038CE-1EAC-4041-8C62-B8EC093120B9}" presName="iconBgRect" presStyleLbl="bgShp" presStyleIdx="3" presStyleCnt="4"/>
      <dgm:spPr/>
    </dgm:pt>
    <dgm:pt modelId="{53DC688E-FC98-4BBA-902C-663C14B7966E}" type="pres">
      <dgm:prSet presAssocID="{BBC038CE-1EAC-4041-8C62-B8EC093120B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9084C0E6-5703-49A3-B5F1-868145FC5C3D}" type="pres">
      <dgm:prSet presAssocID="{BBC038CE-1EAC-4041-8C62-B8EC093120B9}" presName="spaceRect" presStyleCnt="0"/>
      <dgm:spPr/>
    </dgm:pt>
    <dgm:pt modelId="{B162867F-37F5-42CC-AEEB-D1D917CA804D}" type="pres">
      <dgm:prSet presAssocID="{BBC038CE-1EAC-4041-8C62-B8EC093120B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6819F16-16D9-4184-AF35-82782C26B756}" srcId="{E2F994B2-053C-485F-98D4-B794A0903110}" destId="{BBC038CE-1EAC-4041-8C62-B8EC093120B9}" srcOrd="3" destOrd="0" parTransId="{9B8CF9C6-5F5C-4596-89AF-3E9C96C5210F}" sibTransId="{7E9BD94D-997D-468E-992F-402F4B38FE24}"/>
    <dgm:cxn modelId="{8A5B6020-05AA-43F5-A5ED-3B99494F0B35}" srcId="{E2F994B2-053C-485F-98D4-B794A0903110}" destId="{2CAB58DD-1FBD-41F1-B8FF-E1DE8E01985B}" srcOrd="0" destOrd="0" parTransId="{C13B3E5F-2B73-4290-B556-1885291EAAF5}" sibTransId="{45005B2A-A308-40C0-911E-FBFC68E21FB0}"/>
    <dgm:cxn modelId="{A7D7CC28-3A25-45B9-8F6A-00CE39B7A8EB}" type="presOf" srcId="{E2F994B2-053C-485F-98D4-B794A0903110}" destId="{1606F3AB-A5AE-47AF-ACE1-12E4DEE9DA0A}" srcOrd="0" destOrd="0" presId="urn:microsoft.com/office/officeart/2018/5/layout/IconCircleLabelList"/>
    <dgm:cxn modelId="{BBF146AC-04EC-4393-8C33-2366E51EAE78}" type="presOf" srcId="{E78118AB-1008-42BD-B6D7-9EE8507A25C3}" destId="{43065B81-AEA7-47F1-8F07-4C9238FD791B}" srcOrd="0" destOrd="0" presId="urn:microsoft.com/office/officeart/2018/5/layout/IconCircleLabelList"/>
    <dgm:cxn modelId="{10D2D0BF-7686-4152-8626-BBEC1EA1F3D8}" type="presOf" srcId="{454482F1-0FEE-40B3-9FE4-89C97526BBC3}" destId="{DC85DB3F-FB28-4B5A-933F-BD99BF878EF1}" srcOrd="0" destOrd="0" presId="urn:microsoft.com/office/officeart/2018/5/layout/IconCircleLabelList"/>
    <dgm:cxn modelId="{D92847CE-3CE1-4219-98FA-1293236E1B4E}" type="presOf" srcId="{2CAB58DD-1FBD-41F1-B8FF-E1DE8E01985B}" destId="{83F71BDC-835C-4EF0-AF5C-17162E80E7F8}" srcOrd="0" destOrd="0" presId="urn:microsoft.com/office/officeart/2018/5/layout/IconCircleLabelList"/>
    <dgm:cxn modelId="{27DF7BD7-2ABA-4E77-B867-2FA82DF47926}" srcId="{E2F994B2-053C-485F-98D4-B794A0903110}" destId="{454482F1-0FEE-40B3-9FE4-89C97526BBC3}" srcOrd="1" destOrd="0" parTransId="{E8750018-364C-4A0D-90FB-891AB0C8570B}" sibTransId="{B9766ADE-3376-4941-9C83-5CA08E277C30}"/>
    <dgm:cxn modelId="{9E206DEC-6494-438C-858E-7C2CF28E49CD}" srcId="{E2F994B2-053C-485F-98D4-B794A0903110}" destId="{E78118AB-1008-42BD-B6D7-9EE8507A25C3}" srcOrd="2" destOrd="0" parTransId="{3A2493F6-D6E0-4DD7-988E-00DDB59C4044}" sibTransId="{22503EA1-C094-46EA-B256-099CC5B377BC}"/>
    <dgm:cxn modelId="{F8C536FC-71DC-4C41-A9C6-FF45D07D8CB1}" type="presOf" srcId="{BBC038CE-1EAC-4041-8C62-B8EC093120B9}" destId="{B162867F-37F5-42CC-AEEB-D1D917CA804D}" srcOrd="0" destOrd="0" presId="urn:microsoft.com/office/officeart/2018/5/layout/IconCircleLabelList"/>
    <dgm:cxn modelId="{F9277F3C-FB9A-4976-A2FC-DA81552A1D0E}" type="presParOf" srcId="{1606F3AB-A5AE-47AF-ACE1-12E4DEE9DA0A}" destId="{68BBF048-3FAD-4C78-A2EC-4F2DC642C1DC}" srcOrd="0" destOrd="0" presId="urn:microsoft.com/office/officeart/2018/5/layout/IconCircleLabelList"/>
    <dgm:cxn modelId="{75CE41BF-721D-48B9-A622-DF705FE32F2F}" type="presParOf" srcId="{68BBF048-3FAD-4C78-A2EC-4F2DC642C1DC}" destId="{68CC77CD-7A28-45E2-A117-1BCE11B85133}" srcOrd="0" destOrd="0" presId="urn:microsoft.com/office/officeart/2018/5/layout/IconCircleLabelList"/>
    <dgm:cxn modelId="{4B1CAA93-BD95-49B4-8BE6-D9B9A37F42E1}" type="presParOf" srcId="{68BBF048-3FAD-4C78-A2EC-4F2DC642C1DC}" destId="{B228B1BA-1C1C-45E5-B9D8-D8FF8E092751}" srcOrd="1" destOrd="0" presId="urn:microsoft.com/office/officeart/2018/5/layout/IconCircleLabelList"/>
    <dgm:cxn modelId="{859446F4-61B3-47E6-BEBE-7B5B225CDB3B}" type="presParOf" srcId="{68BBF048-3FAD-4C78-A2EC-4F2DC642C1DC}" destId="{62723015-29AD-49C1-9E7D-48E5A36E698C}" srcOrd="2" destOrd="0" presId="urn:microsoft.com/office/officeart/2018/5/layout/IconCircleLabelList"/>
    <dgm:cxn modelId="{4E840130-F6E3-4077-97D9-3799ECB5F535}" type="presParOf" srcId="{68BBF048-3FAD-4C78-A2EC-4F2DC642C1DC}" destId="{83F71BDC-835C-4EF0-AF5C-17162E80E7F8}" srcOrd="3" destOrd="0" presId="urn:microsoft.com/office/officeart/2018/5/layout/IconCircleLabelList"/>
    <dgm:cxn modelId="{3EA203EF-9B1A-416C-9EFE-FA48D30E7F05}" type="presParOf" srcId="{1606F3AB-A5AE-47AF-ACE1-12E4DEE9DA0A}" destId="{462B61A8-FE47-45BD-B928-71B3FC975ED3}" srcOrd="1" destOrd="0" presId="urn:microsoft.com/office/officeart/2018/5/layout/IconCircleLabelList"/>
    <dgm:cxn modelId="{4CCD824B-D279-4EA9-96AF-91901DE49DF1}" type="presParOf" srcId="{1606F3AB-A5AE-47AF-ACE1-12E4DEE9DA0A}" destId="{AB05325A-01B4-48A0-913B-A457798E362A}" srcOrd="2" destOrd="0" presId="urn:microsoft.com/office/officeart/2018/5/layout/IconCircleLabelList"/>
    <dgm:cxn modelId="{85ABA8EC-9FC6-4523-88E8-BCB913574C14}" type="presParOf" srcId="{AB05325A-01B4-48A0-913B-A457798E362A}" destId="{4435C7B0-8019-47EC-9FCB-05B2CF483D64}" srcOrd="0" destOrd="0" presId="urn:microsoft.com/office/officeart/2018/5/layout/IconCircleLabelList"/>
    <dgm:cxn modelId="{7A32B2A3-2AAF-4144-B2E0-09466065EA55}" type="presParOf" srcId="{AB05325A-01B4-48A0-913B-A457798E362A}" destId="{2C76AD26-0F6C-44EB-A1BD-5759487C3433}" srcOrd="1" destOrd="0" presId="urn:microsoft.com/office/officeart/2018/5/layout/IconCircleLabelList"/>
    <dgm:cxn modelId="{4336FDB2-3375-4BA2-A4B3-97DE71DD49D6}" type="presParOf" srcId="{AB05325A-01B4-48A0-913B-A457798E362A}" destId="{139168B8-0DCB-44C9-96BD-26DC69E8D267}" srcOrd="2" destOrd="0" presId="urn:microsoft.com/office/officeart/2018/5/layout/IconCircleLabelList"/>
    <dgm:cxn modelId="{830101EC-3F04-4A79-A1FC-8CB65B247072}" type="presParOf" srcId="{AB05325A-01B4-48A0-913B-A457798E362A}" destId="{DC85DB3F-FB28-4B5A-933F-BD99BF878EF1}" srcOrd="3" destOrd="0" presId="urn:microsoft.com/office/officeart/2018/5/layout/IconCircleLabelList"/>
    <dgm:cxn modelId="{2949BD1E-6C76-4FB7-AF34-FCA35C508CA7}" type="presParOf" srcId="{1606F3AB-A5AE-47AF-ACE1-12E4DEE9DA0A}" destId="{4209130B-4C24-4FC0-AD30-641E3E3AEF6D}" srcOrd="3" destOrd="0" presId="urn:microsoft.com/office/officeart/2018/5/layout/IconCircleLabelList"/>
    <dgm:cxn modelId="{011CC500-795C-431F-8801-2D8D8FBE9B14}" type="presParOf" srcId="{1606F3AB-A5AE-47AF-ACE1-12E4DEE9DA0A}" destId="{B9B426BE-5B60-4889-AFD4-CE1EABE4C483}" srcOrd="4" destOrd="0" presId="urn:microsoft.com/office/officeart/2018/5/layout/IconCircleLabelList"/>
    <dgm:cxn modelId="{7BDF65AF-60E4-4E92-B878-B45F548293F6}" type="presParOf" srcId="{B9B426BE-5B60-4889-AFD4-CE1EABE4C483}" destId="{A7E9D33B-A044-49D5-846E-3D244E4EA7EE}" srcOrd="0" destOrd="0" presId="urn:microsoft.com/office/officeart/2018/5/layout/IconCircleLabelList"/>
    <dgm:cxn modelId="{7D8A60B9-2CF6-479D-9AD5-08A9B51051EF}" type="presParOf" srcId="{B9B426BE-5B60-4889-AFD4-CE1EABE4C483}" destId="{3D12A38D-BDC1-4DA1-A9D3-947EE45DE367}" srcOrd="1" destOrd="0" presId="urn:microsoft.com/office/officeart/2018/5/layout/IconCircleLabelList"/>
    <dgm:cxn modelId="{5F01A218-C8E6-4418-ABC7-ED21240D3233}" type="presParOf" srcId="{B9B426BE-5B60-4889-AFD4-CE1EABE4C483}" destId="{39F40B7B-95B5-46C9-ADE0-64775EB0D3B3}" srcOrd="2" destOrd="0" presId="urn:microsoft.com/office/officeart/2018/5/layout/IconCircleLabelList"/>
    <dgm:cxn modelId="{86D43AE9-BDCB-45E4-A539-A825D8A6BE9E}" type="presParOf" srcId="{B9B426BE-5B60-4889-AFD4-CE1EABE4C483}" destId="{43065B81-AEA7-47F1-8F07-4C9238FD791B}" srcOrd="3" destOrd="0" presId="urn:microsoft.com/office/officeart/2018/5/layout/IconCircleLabelList"/>
    <dgm:cxn modelId="{A9149CFE-1EBB-4046-BF58-1487D953E8C3}" type="presParOf" srcId="{1606F3AB-A5AE-47AF-ACE1-12E4DEE9DA0A}" destId="{113315F8-D97B-4048-99B6-363B9C732504}" srcOrd="5" destOrd="0" presId="urn:microsoft.com/office/officeart/2018/5/layout/IconCircleLabelList"/>
    <dgm:cxn modelId="{99014CB9-0A0D-4A83-8B45-9C5F3F37116D}" type="presParOf" srcId="{1606F3AB-A5AE-47AF-ACE1-12E4DEE9DA0A}" destId="{0AE859E8-A170-4B6D-8C69-AC57D2A16A92}" srcOrd="6" destOrd="0" presId="urn:microsoft.com/office/officeart/2018/5/layout/IconCircleLabelList"/>
    <dgm:cxn modelId="{219018C8-386A-4AC1-B0AC-CAB98F820B13}" type="presParOf" srcId="{0AE859E8-A170-4B6D-8C69-AC57D2A16A92}" destId="{F50C0666-798A-4D8F-9BD7-EF10517AB523}" srcOrd="0" destOrd="0" presId="urn:microsoft.com/office/officeart/2018/5/layout/IconCircleLabelList"/>
    <dgm:cxn modelId="{F1CB851C-2FB8-41F9-8C5E-A83631C8EFB8}" type="presParOf" srcId="{0AE859E8-A170-4B6D-8C69-AC57D2A16A92}" destId="{53DC688E-FC98-4BBA-902C-663C14B7966E}" srcOrd="1" destOrd="0" presId="urn:microsoft.com/office/officeart/2018/5/layout/IconCircleLabelList"/>
    <dgm:cxn modelId="{7F938FB8-0553-490C-A4BA-5B29FF2DFBC1}" type="presParOf" srcId="{0AE859E8-A170-4B6D-8C69-AC57D2A16A92}" destId="{9084C0E6-5703-49A3-B5F1-868145FC5C3D}" srcOrd="2" destOrd="0" presId="urn:microsoft.com/office/officeart/2018/5/layout/IconCircleLabelList"/>
    <dgm:cxn modelId="{60E84634-E09F-4710-9C6C-78F11D8E7258}" type="presParOf" srcId="{0AE859E8-A170-4B6D-8C69-AC57D2A16A92}" destId="{B162867F-37F5-42CC-AEEB-D1D917CA804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4F671-E9BA-4217-9A00-639F4D2784A2}">
      <dsp:nvSpPr>
        <dsp:cNvPr id="0" name=""/>
        <dsp:cNvSpPr/>
      </dsp:nvSpPr>
      <dsp:spPr>
        <a:xfrm>
          <a:off x="73109" y="848602"/>
          <a:ext cx="1029672" cy="10296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D3C6BD-2990-4388-9231-20C292E7AD96}">
      <dsp:nvSpPr>
        <dsp:cNvPr id="0" name=""/>
        <dsp:cNvSpPr/>
      </dsp:nvSpPr>
      <dsp:spPr>
        <a:xfrm>
          <a:off x="289341" y="1064833"/>
          <a:ext cx="597209" cy="5972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C6E9E1-B3CA-41D2-9173-76513B253E7C}">
      <dsp:nvSpPr>
        <dsp:cNvPr id="0" name=""/>
        <dsp:cNvSpPr/>
      </dsp:nvSpPr>
      <dsp:spPr>
        <a:xfrm>
          <a:off x="1323425" y="848602"/>
          <a:ext cx="2427084" cy="1029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Spatial units: DHS clusters / facility catchments (site-level identifiers).</a:t>
          </a:r>
        </a:p>
      </dsp:txBody>
      <dsp:txXfrm>
        <a:off x="1323425" y="848602"/>
        <a:ext cx="2427084" cy="1029672"/>
      </dsp:txXfrm>
    </dsp:sp>
    <dsp:sp modelId="{A7B72FF6-C814-49C5-92B0-B4827C56597F}">
      <dsp:nvSpPr>
        <dsp:cNvPr id="0" name=""/>
        <dsp:cNvSpPr/>
      </dsp:nvSpPr>
      <dsp:spPr>
        <a:xfrm>
          <a:off x="3705322" y="799126"/>
          <a:ext cx="1029672" cy="10296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DDBD54-A242-4144-BB81-2468C96AF0D2}">
      <dsp:nvSpPr>
        <dsp:cNvPr id="0" name=""/>
        <dsp:cNvSpPr/>
      </dsp:nvSpPr>
      <dsp:spPr>
        <a:xfrm>
          <a:off x="3943329" y="1021291"/>
          <a:ext cx="597209" cy="5972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1BB413-2C37-4D20-BFEA-74E889BF5C81}">
      <dsp:nvSpPr>
        <dsp:cNvPr id="0" name=""/>
        <dsp:cNvSpPr/>
      </dsp:nvSpPr>
      <dsp:spPr>
        <a:xfrm>
          <a:off x="5191151" y="723919"/>
          <a:ext cx="3038442" cy="1104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Covariates: “</a:t>
          </a:r>
          <a:r>
            <a:rPr lang="en-GB" sz="1400" kern="1200" dirty="0" err="1"/>
            <a:t>Population_Count</a:t>
          </a:r>
          <a:r>
            <a:rPr lang="en-GB" sz="1400" kern="1200" dirty="0"/>
            <a:t>", "Aridity", "</a:t>
          </a:r>
          <a:r>
            <a:rPr lang="en-GB" sz="1400" kern="1200" dirty="0" err="1"/>
            <a:t>Malaria_Incidence</a:t>
          </a:r>
          <a:r>
            <a:rPr lang="en-GB" sz="1400" kern="1200" dirty="0"/>
            <a:t>", "</a:t>
          </a:r>
          <a:r>
            <a:rPr lang="en-GB" sz="1400" kern="1200" dirty="0" err="1"/>
            <a:t>Mean_Temperature</a:t>
          </a:r>
          <a:r>
            <a:rPr lang="en-GB" sz="1400" kern="1200" dirty="0"/>
            <a:t>", "Precipitation", "Rainfall",</a:t>
          </a:r>
        </a:p>
      </dsp:txBody>
      <dsp:txXfrm>
        <a:off x="5191151" y="723919"/>
        <a:ext cx="3038442" cy="1104879"/>
      </dsp:txXfrm>
    </dsp:sp>
    <dsp:sp modelId="{2B388E90-66AE-4D4F-86A4-865E5B050AC3}">
      <dsp:nvSpPr>
        <dsp:cNvPr id="0" name=""/>
        <dsp:cNvSpPr/>
      </dsp:nvSpPr>
      <dsp:spPr>
        <a:xfrm>
          <a:off x="73109" y="2685291"/>
          <a:ext cx="1029672" cy="10296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0A9D4-1913-4220-9083-0D7E6E73DE4F}">
      <dsp:nvSpPr>
        <dsp:cNvPr id="0" name=""/>
        <dsp:cNvSpPr/>
      </dsp:nvSpPr>
      <dsp:spPr>
        <a:xfrm>
          <a:off x="289341" y="2901523"/>
          <a:ext cx="597209" cy="5972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FE4484-027B-4FE8-B7EF-839B67842706}">
      <dsp:nvSpPr>
        <dsp:cNvPr id="0" name=""/>
        <dsp:cNvSpPr/>
      </dsp:nvSpPr>
      <dsp:spPr>
        <a:xfrm>
          <a:off x="1323425" y="2685291"/>
          <a:ext cx="2427084" cy="1029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Label: </a:t>
          </a:r>
          <a:r>
            <a:rPr lang="en-US" sz="1400" kern="1200" dirty="0" err="1"/>
            <a:t>Malaria_Prevalence</a:t>
          </a:r>
          <a:r>
            <a:rPr lang="en-US" sz="1400" kern="1200" dirty="0"/>
            <a:t> (survey-based or surveillance-derived).</a:t>
          </a:r>
        </a:p>
      </dsp:txBody>
      <dsp:txXfrm>
        <a:off x="1323425" y="2685291"/>
        <a:ext cx="2427084" cy="1029672"/>
      </dsp:txXfrm>
    </dsp:sp>
    <dsp:sp modelId="{20D81427-9749-4787-BFC6-93A63FF0C768}">
      <dsp:nvSpPr>
        <dsp:cNvPr id="0" name=""/>
        <dsp:cNvSpPr/>
      </dsp:nvSpPr>
      <dsp:spPr>
        <a:xfrm>
          <a:off x="4173410" y="2685291"/>
          <a:ext cx="1029672" cy="10296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4B998-8699-4AD7-995D-87949CA6C4E2}">
      <dsp:nvSpPr>
        <dsp:cNvPr id="0" name=""/>
        <dsp:cNvSpPr/>
      </dsp:nvSpPr>
      <dsp:spPr>
        <a:xfrm>
          <a:off x="4389642" y="2901523"/>
          <a:ext cx="597209" cy="5972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4D9C64-A15C-4250-AF27-BF47D4A9BE63}">
      <dsp:nvSpPr>
        <dsp:cNvPr id="0" name=""/>
        <dsp:cNvSpPr/>
      </dsp:nvSpPr>
      <dsp:spPr>
        <a:xfrm>
          <a:off x="5423726" y="2685291"/>
          <a:ext cx="2427084" cy="1029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Primary sources: NDHS, </a:t>
          </a:r>
          <a:r>
            <a:rPr lang="en-US" sz="1400" kern="1200" dirty="0" err="1"/>
            <a:t>WorldPop</a:t>
          </a:r>
          <a:r>
            <a:rPr lang="en-US" sz="1400" kern="1200" dirty="0"/>
            <a:t>, Malaria Atlas Project (MAP), HDX, and DHIS2.</a:t>
          </a:r>
        </a:p>
      </dsp:txBody>
      <dsp:txXfrm>
        <a:off x="5423726" y="2685291"/>
        <a:ext cx="2427084" cy="1029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683EA-3961-4EF9-9DFB-8408626C3902}">
      <dsp:nvSpPr>
        <dsp:cNvPr id="0" name=""/>
        <dsp:cNvSpPr/>
      </dsp:nvSpPr>
      <dsp:spPr>
        <a:xfrm>
          <a:off x="449464" y="338714"/>
          <a:ext cx="1324915" cy="1324915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37C8F-BF2F-4220-BB57-E8F8291DE009}">
      <dsp:nvSpPr>
        <dsp:cNvPr id="0" name=""/>
        <dsp:cNvSpPr/>
      </dsp:nvSpPr>
      <dsp:spPr>
        <a:xfrm>
          <a:off x="731823" y="621072"/>
          <a:ext cx="760197" cy="7601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47682-482B-4519-B4DA-C262768E7595}">
      <dsp:nvSpPr>
        <dsp:cNvPr id="0" name=""/>
        <dsp:cNvSpPr/>
      </dsp:nvSpPr>
      <dsp:spPr>
        <a:xfrm>
          <a:off x="25926" y="2076307"/>
          <a:ext cx="2171991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Input: Site-year feature vector (covariates + temporal lags + spatial features).</a:t>
          </a:r>
        </a:p>
      </dsp:txBody>
      <dsp:txXfrm>
        <a:off x="25926" y="2076307"/>
        <a:ext cx="2171991" cy="855000"/>
      </dsp:txXfrm>
    </dsp:sp>
    <dsp:sp modelId="{7CD549EC-80C8-414A-8751-E51130AFC4F7}">
      <dsp:nvSpPr>
        <dsp:cNvPr id="0" name=""/>
        <dsp:cNvSpPr/>
      </dsp:nvSpPr>
      <dsp:spPr>
        <a:xfrm>
          <a:off x="3001555" y="338714"/>
          <a:ext cx="1324915" cy="1324915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940CB-950B-46F3-BB03-DE2471B6547A}">
      <dsp:nvSpPr>
        <dsp:cNvPr id="0" name=""/>
        <dsp:cNvSpPr/>
      </dsp:nvSpPr>
      <dsp:spPr>
        <a:xfrm>
          <a:off x="3283914" y="621072"/>
          <a:ext cx="760197" cy="7601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EAC69-F731-45F3-AEF5-DC143258F905}">
      <dsp:nvSpPr>
        <dsp:cNvPr id="0" name=""/>
        <dsp:cNvSpPr/>
      </dsp:nvSpPr>
      <dsp:spPr>
        <a:xfrm>
          <a:off x="2578016" y="2076307"/>
          <a:ext cx="2171991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Architecture: Input layer → Dense(256) → BatchNorm → Dropout → Dense(128) → BatchNorm → Dropout → Output(1).</a:t>
          </a:r>
        </a:p>
      </dsp:txBody>
      <dsp:txXfrm>
        <a:off x="2578016" y="2076307"/>
        <a:ext cx="2171991" cy="855000"/>
      </dsp:txXfrm>
    </dsp:sp>
    <dsp:sp modelId="{B291741E-E064-49B5-BA55-AE3A9330BD56}">
      <dsp:nvSpPr>
        <dsp:cNvPr id="0" name=""/>
        <dsp:cNvSpPr/>
      </dsp:nvSpPr>
      <dsp:spPr>
        <a:xfrm>
          <a:off x="449464" y="3474305"/>
          <a:ext cx="1324915" cy="1324915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3AA20-470A-4338-8CD5-09975EA9518C}">
      <dsp:nvSpPr>
        <dsp:cNvPr id="0" name=""/>
        <dsp:cNvSpPr/>
      </dsp:nvSpPr>
      <dsp:spPr>
        <a:xfrm>
          <a:off x="731823" y="3756664"/>
          <a:ext cx="760197" cy="7601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26309C-1217-450B-97F6-99176BBEC6C0}">
      <dsp:nvSpPr>
        <dsp:cNvPr id="0" name=""/>
        <dsp:cNvSpPr/>
      </dsp:nvSpPr>
      <dsp:spPr>
        <a:xfrm>
          <a:off x="25926" y="5211898"/>
          <a:ext cx="2171991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Loss &amp; metric: MSE loss, MAE as evaluation metric. EarlyStopping used during training.</a:t>
          </a:r>
        </a:p>
      </dsp:txBody>
      <dsp:txXfrm>
        <a:off x="25926" y="5211898"/>
        <a:ext cx="2171991" cy="855000"/>
      </dsp:txXfrm>
    </dsp:sp>
    <dsp:sp modelId="{1FB4F056-069D-431E-B0B9-2AF4289679AE}">
      <dsp:nvSpPr>
        <dsp:cNvPr id="0" name=""/>
        <dsp:cNvSpPr/>
      </dsp:nvSpPr>
      <dsp:spPr>
        <a:xfrm>
          <a:off x="3001555" y="3474305"/>
          <a:ext cx="1324915" cy="1324915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304124-21D1-49FD-A751-7CB22E9FCED5}">
      <dsp:nvSpPr>
        <dsp:cNvPr id="0" name=""/>
        <dsp:cNvSpPr/>
      </dsp:nvSpPr>
      <dsp:spPr>
        <a:xfrm>
          <a:off x="3283914" y="3756664"/>
          <a:ext cx="760197" cy="7601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24688A-CE0C-454A-BD51-662740F878FF}">
      <dsp:nvSpPr>
        <dsp:cNvPr id="0" name=""/>
        <dsp:cNvSpPr/>
      </dsp:nvSpPr>
      <dsp:spPr>
        <a:xfrm>
          <a:off x="2578016" y="5211898"/>
          <a:ext cx="2171991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Why MLP: Robust baseline for tabular data, fast to train, easy to interprete with feature attributions.</a:t>
          </a:r>
        </a:p>
      </dsp:txBody>
      <dsp:txXfrm>
        <a:off x="2578016" y="5211898"/>
        <a:ext cx="2171991" cy="855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30A6E-1D7C-41E3-860D-17D5048B6B16}">
      <dsp:nvSpPr>
        <dsp:cNvPr id="0" name=""/>
        <dsp:cNvSpPr/>
      </dsp:nvSpPr>
      <dsp:spPr>
        <a:xfrm>
          <a:off x="5512142" y="249303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Training window: 2000–2015 (annual interpolated series). Test: 2020.</a:t>
          </a:r>
        </a:p>
      </dsp:txBody>
      <dsp:txXfrm>
        <a:off x="5512142" y="249303"/>
        <a:ext cx="1540371" cy="1540371"/>
      </dsp:txXfrm>
    </dsp:sp>
    <dsp:sp modelId="{113D7708-524F-4141-998E-969F5DEED433}">
      <dsp:nvSpPr>
        <dsp:cNvPr id="0" name=""/>
        <dsp:cNvSpPr/>
      </dsp:nvSpPr>
      <dsp:spPr>
        <a:xfrm>
          <a:off x="2537170" y="-133496"/>
          <a:ext cx="4353749" cy="4353749"/>
        </a:xfrm>
        <a:prstGeom prst="circularArrow">
          <a:avLst>
            <a:gd name="adj1" fmla="val 6899"/>
            <a:gd name="adj2" fmla="val 465122"/>
            <a:gd name="adj3" fmla="val 1006922"/>
            <a:gd name="adj4" fmla="val 21127444"/>
            <a:gd name="adj5" fmla="val 804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7119F5-3C9B-4728-8BEB-74230299E310}">
      <dsp:nvSpPr>
        <dsp:cNvPr id="0" name=""/>
        <dsp:cNvSpPr/>
      </dsp:nvSpPr>
      <dsp:spPr>
        <a:xfrm>
          <a:off x="5239996" y="2812172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Cross-site pooling: model trained across all sites to leverage spatial patterns.</a:t>
          </a:r>
        </a:p>
      </dsp:txBody>
      <dsp:txXfrm>
        <a:off x="5239996" y="2812172"/>
        <a:ext cx="1540371" cy="1540371"/>
      </dsp:txXfrm>
    </dsp:sp>
    <dsp:sp modelId="{DB6FCFBB-C3D0-478D-A3C9-6745225330EA}">
      <dsp:nvSpPr>
        <dsp:cNvPr id="0" name=""/>
        <dsp:cNvSpPr/>
      </dsp:nvSpPr>
      <dsp:spPr>
        <a:xfrm>
          <a:off x="1881297" y="624886"/>
          <a:ext cx="4353749" cy="4353749"/>
        </a:xfrm>
        <a:prstGeom prst="circularArrow">
          <a:avLst>
            <a:gd name="adj1" fmla="val 6899"/>
            <a:gd name="adj2" fmla="val 465122"/>
            <a:gd name="adj3" fmla="val 7626511"/>
            <a:gd name="adj4" fmla="val 3020016"/>
            <a:gd name="adj5" fmla="val 8049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5CC01-899D-4081-A8AF-4CB549478BBD}">
      <dsp:nvSpPr>
        <dsp:cNvPr id="0" name=""/>
        <dsp:cNvSpPr/>
      </dsp:nvSpPr>
      <dsp:spPr>
        <a:xfrm>
          <a:off x="1304446" y="2573760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Feature engineering: lags, rolling averages, seasonal encodings (month sine/cos), spatial neighbor means.</a:t>
          </a:r>
        </a:p>
      </dsp:txBody>
      <dsp:txXfrm>
        <a:off x="1304446" y="2573760"/>
        <a:ext cx="1540371" cy="1540371"/>
      </dsp:txXfrm>
    </dsp:sp>
    <dsp:sp modelId="{3895620F-56A8-44EB-A520-AD8FB2108B53}">
      <dsp:nvSpPr>
        <dsp:cNvPr id="0" name=""/>
        <dsp:cNvSpPr/>
      </dsp:nvSpPr>
      <dsp:spPr>
        <a:xfrm>
          <a:off x="1462370" y="142215"/>
          <a:ext cx="4353749" cy="4353749"/>
        </a:xfrm>
        <a:prstGeom prst="circularArrow">
          <a:avLst>
            <a:gd name="adj1" fmla="val 6899"/>
            <a:gd name="adj2" fmla="val 465122"/>
            <a:gd name="adj3" fmla="val 11683828"/>
            <a:gd name="adj4" fmla="val 10325634"/>
            <a:gd name="adj5" fmla="val 8049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8473C-EA92-41DB-A2BA-688AE493A229}">
      <dsp:nvSpPr>
        <dsp:cNvPr id="0" name=""/>
        <dsp:cNvSpPr/>
      </dsp:nvSpPr>
      <dsp:spPr>
        <a:xfrm>
          <a:off x="945431" y="70714"/>
          <a:ext cx="2672066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Evaluation: MAE &amp; RMSE on hold-out 2020; visual inspection of predicted vs observed maps and time series.</a:t>
          </a:r>
        </a:p>
      </dsp:txBody>
      <dsp:txXfrm>
        <a:off x="945431" y="70714"/>
        <a:ext cx="2672066" cy="1540371"/>
      </dsp:txXfrm>
    </dsp:sp>
    <dsp:sp modelId="{4CC60D64-8819-4AFB-A1AA-F4F4B03D6FA8}">
      <dsp:nvSpPr>
        <dsp:cNvPr id="0" name=""/>
        <dsp:cNvSpPr/>
      </dsp:nvSpPr>
      <dsp:spPr>
        <a:xfrm>
          <a:off x="1985270" y="-442056"/>
          <a:ext cx="4353749" cy="4353749"/>
        </a:xfrm>
        <a:prstGeom prst="circularArrow">
          <a:avLst>
            <a:gd name="adj1" fmla="val 6899"/>
            <a:gd name="adj2" fmla="val 465122"/>
            <a:gd name="adj3" fmla="val 18429155"/>
            <a:gd name="adj4" fmla="val 14015112"/>
            <a:gd name="adj5" fmla="val 8049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CC77CD-7A28-45E2-A117-1BCE11B85133}">
      <dsp:nvSpPr>
        <dsp:cNvPr id="0" name=""/>
        <dsp:cNvSpPr/>
      </dsp:nvSpPr>
      <dsp:spPr>
        <a:xfrm>
          <a:off x="376435" y="98265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28B1BA-1C1C-45E5-B9D8-D8FF8E092751}">
      <dsp:nvSpPr>
        <dsp:cNvPr id="0" name=""/>
        <dsp:cNvSpPr/>
      </dsp:nvSpPr>
      <dsp:spPr>
        <a:xfrm>
          <a:off x="610435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71BDC-835C-4EF0-AF5C-17162E80E7F8}">
      <dsp:nvSpPr>
        <dsp:cNvPr id="0" name=""/>
        <dsp:cNvSpPr/>
      </dsp:nvSpPr>
      <dsp:spPr>
        <a:xfrm>
          <a:off x="95768" y="2422652"/>
          <a:ext cx="1505523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Key metrics on test (2020): MAE =</a:t>
          </a:r>
          <a:r>
            <a:rPr lang="en-US" sz="1100" b="1" kern="1200" dirty="0"/>
            <a:t> 0.0452, </a:t>
          </a:r>
          <a:r>
            <a:rPr lang="en-US" sz="1100" b="0" kern="1200" dirty="0"/>
            <a:t>loss = </a:t>
          </a:r>
          <a:r>
            <a:rPr lang="en-US" sz="1100" b="1" kern="1200" dirty="0"/>
            <a:t>0.0025</a:t>
          </a:r>
          <a:endParaRPr lang="en-US" sz="1100" kern="1200" dirty="0"/>
        </a:p>
      </dsp:txBody>
      <dsp:txXfrm>
        <a:off x="95768" y="2422652"/>
        <a:ext cx="1505523" cy="787500"/>
      </dsp:txXfrm>
    </dsp:sp>
    <dsp:sp modelId="{4435C7B0-8019-47EC-9FCB-05B2CF483D64}">
      <dsp:nvSpPr>
        <dsp:cNvPr id="0" name=""/>
        <dsp:cNvSpPr/>
      </dsp:nvSpPr>
      <dsp:spPr>
        <a:xfrm>
          <a:off x="2491435" y="98265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6AD26-0F6C-44EB-A1BD-5759487C3433}">
      <dsp:nvSpPr>
        <dsp:cNvPr id="0" name=""/>
        <dsp:cNvSpPr/>
      </dsp:nvSpPr>
      <dsp:spPr>
        <a:xfrm>
          <a:off x="2725435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85DB3F-FB28-4B5A-933F-BD99BF878EF1}">
      <dsp:nvSpPr>
        <dsp:cNvPr id="0" name=""/>
        <dsp:cNvSpPr/>
      </dsp:nvSpPr>
      <dsp:spPr>
        <a:xfrm>
          <a:off x="2140435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solidFill>
                <a:schemeClr val="accent3">
                  <a:lumMod val="75000"/>
                </a:schemeClr>
              </a:solidFill>
            </a:rPr>
            <a:t>Diagnostics: residual maps, predicted vs observed scatter plots, distribution of errors by region.</a:t>
          </a:r>
        </a:p>
      </dsp:txBody>
      <dsp:txXfrm>
        <a:off x="2140435" y="2422652"/>
        <a:ext cx="1800000" cy="787500"/>
      </dsp:txXfrm>
    </dsp:sp>
    <dsp:sp modelId="{A7E9D33B-A044-49D5-846E-3D244E4EA7EE}">
      <dsp:nvSpPr>
        <dsp:cNvPr id="0" name=""/>
        <dsp:cNvSpPr/>
      </dsp:nvSpPr>
      <dsp:spPr>
        <a:xfrm>
          <a:off x="4606435" y="98265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2A38D-BDC1-4DA1-A9D3-947EE45DE367}">
      <dsp:nvSpPr>
        <dsp:cNvPr id="0" name=""/>
        <dsp:cNvSpPr/>
      </dsp:nvSpPr>
      <dsp:spPr>
        <a:xfrm>
          <a:off x="4840435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065B81-AEA7-47F1-8F07-4C9238FD791B}">
      <dsp:nvSpPr>
        <dsp:cNvPr id="0" name=""/>
        <dsp:cNvSpPr/>
      </dsp:nvSpPr>
      <dsp:spPr>
        <a:xfrm>
          <a:off x="4255435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Overfitting checks: training vs validation loss curves, early stopping behavior.</a:t>
          </a:r>
        </a:p>
      </dsp:txBody>
      <dsp:txXfrm>
        <a:off x="4255435" y="2422652"/>
        <a:ext cx="1800000" cy="787500"/>
      </dsp:txXfrm>
    </dsp:sp>
    <dsp:sp modelId="{F50C0666-798A-4D8F-9BD7-EF10517AB523}">
      <dsp:nvSpPr>
        <dsp:cNvPr id="0" name=""/>
        <dsp:cNvSpPr/>
      </dsp:nvSpPr>
      <dsp:spPr>
        <a:xfrm>
          <a:off x="6721435" y="98265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C688E-FC98-4BBA-902C-663C14B7966E}">
      <dsp:nvSpPr>
        <dsp:cNvPr id="0" name=""/>
        <dsp:cNvSpPr/>
      </dsp:nvSpPr>
      <dsp:spPr>
        <a:xfrm>
          <a:off x="6955435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2867F-37F5-42CC-AEEB-D1D917CA804D}">
      <dsp:nvSpPr>
        <dsp:cNvPr id="0" name=""/>
        <dsp:cNvSpPr/>
      </dsp:nvSpPr>
      <dsp:spPr>
        <a:xfrm>
          <a:off x="6370435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Feature importance: SHAP summary shows top contributors (e.g., rainfall, EVI, ITN coverage, nightlights).</a:t>
          </a:r>
        </a:p>
      </dsp:txBody>
      <dsp:txXfrm>
        <a:off x="6370435" y="2422652"/>
        <a:ext cx="1800000" cy="78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210EF-31EE-469C-ABE0-451D2BCADA7B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179A2-4E08-403A-918F-113E230E50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31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529B3-DC62-9B11-1EE2-F1F8DA45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E6B54-4F3B-1CC4-E757-A39A2D4F6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1CCB9-9AF5-EACF-8A61-9C5263F085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7C74F-2A81-3401-847A-92EE55146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33873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3315999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74171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1412489"/>
            <a:ext cx="2153321" cy="21271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PHC AI - Malaria Prevalence Predictor &amp; Bio‑Health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5201" y="1603867"/>
            <a:ext cx="5035296" cy="1744368"/>
          </a:xfrm>
        </p:spPr>
        <p:txBody>
          <a:bodyPr vert="horz" lIns="91440" tIns="45720" rIns="91440" bIns="45720" rtlCol="0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MLP (Multilayer Perceptron) Deployment: Website &amp; Power BI 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DCBB71-1C87-49FB-BC98-BFDD27053C79}"/>
              </a:ext>
            </a:extLst>
          </p:cNvPr>
          <p:cNvSpPr txBox="1"/>
          <p:nvPr/>
        </p:nvSpPr>
        <p:spPr>
          <a:xfrm>
            <a:off x="5225143" y="5442857"/>
            <a:ext cx="4276949" cy="1002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Prepared by: Team – Data Sages for Africa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12/10/2025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61AEE4-4E38-4BAC-976D-E0DE523F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0BC676B-D19A-44DB-910A-0C0E6D43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323" y="3985"/>
            <a:ext cx="7329573" cy="6858000"/>
            <a:chOff x="1303402" y="3985"/>
            <a:chExt cx="9772765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99AA485-A13F-4455-814E-C116AD7E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C90D55F-0AFB-45E5-8815-A4701774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476B6C1-4A41-48E6-8540-FC48FCD76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347F445-D2CA-4FEB-AB8E-7A47AB57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2F1B3D8-301E-4A54-9284-EB14E905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E4B9C67-860A-4569-AC84-3ADE433D1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175B763-A6E6-4AD1-9138-9B1164A7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971" y="991261"/>
            <a:ext cx="7703844" cy="989939"/>
          </a:xfrm>
        </p:spPr>
        <p:txBody>
          <a:bodyPr anchor="ctr">
            <a:normAutofit/>
          </a:bodyPr>
          <a:lstStyle/>
          <a:p>
            <a:r>
              <a:rPr lang="en-GB" sz="3100" dirty="0">
                <a:solidFill>
                  <a:schemeClr val="tx2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307" y="2213567"/>
            <a:ext cx="6943639" cy="3174861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GB" sz="1800" dirty="0">
                <a:solidFill>
                  <a:schemeClr val="tx2"/>
                </a:solidFill>
              </a:rPr>
              <a:t>Objective: Predict malaria prevalence across Nigeria using environmental &amp; demographic covariates and deliver actionable decision support at PHC level.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800" dirty="0">
                <a:solidFill>
                  <a:schemeClr val="tx2"/>
                </a:solidFill>
              </a:rPr>
              <a:t>Deliverables: Trained MLP model, web prototype with bio‑health tracker, Power BI dashboard integration, and scale/impact plan.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800" dirty="0">
                <a:solidFill>
                  <a:schemeClr val="tx2"/>
                </a:solidFill>
              </a:rPr>
              <a:t>Outcome: Early-warning forecasts, targeted resource allocation, and improved primary health care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Data Landscape &amp; 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9F9AF9-332E-5330-F5C7-E71893EA8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26159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530289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197" y="841248"/>
            <a:ext cx="3128559" cy="4238003"/>
          </a:xfrm>
        </p:spPr>
        <p:txBody>
          <a:bodyPr anchor="ctr">
            <a:norm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</a:rPr>
              <a:t>Model Overview — MLP (Multilayer Perceptron)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3ED2A5-6DC3-9BB0-1933-6C00D63DB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8319915"/>
              </p:ext>
            </p:extLst>
          </p:nvPr>
        </p:nvGraphicFramePr>
        <p:xfrm>
          <a:off x="3739414" y="231006"/>
          <a:ext cx="477593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021" y="342208"/>
            <a:ext cx="7886700" cy="1133499"/>
          </a:xfrm>
        </p:spPr>
        <p:txBody>
          <a:bodyPr>
            <a:normAutofit/>
          </a:bodyPr>
          <a:lstStyle/>
          <a:p>
            <a:r>
              <a:rPr lang="en-GB" sz="4500" dirty="0"/>
              <a:t>Training Strategy &amp;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5A2828-3846-49D7-56BD-B2EB700E7E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382309"/>
              </p:ext>
            </p:extLst>
          </p:nvPr>
        </p:nvGraphicFramePr>
        <p:xfrm>
          <a:off x="269421" y="1817914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Model Performance &amp; Diagnostics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A0F76B-BDD0-D34E-51AF-CC72931A60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86059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300"/>
              <a:t>Forecasting &amp; 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699" y="1959429"/>
            <a:ext cx="5454039" cy="3262084"/>
          </a:xfrm>
        </p:spPr>
        <p:txBody>
          <a:bodyPr anchor="ctr">
            <a:normAutofit/>
          </a:bodyPr>
          <a:lstStyle/>
          <a:p>
            <a:r>
              <a:rPr lang="en-GB" sz="2100" dirty="0"/>
              <a:t>Forecast years: 2026, 2027, 2028.</a:t>
            </a:r>
          </a:p>
          <a:p>
            <a:pPr marL="0" indent="0">
              <a:buNone/>
            </a:pPr>
            <a:endParaRPr lang="en-GB" sz="2100" dirty="0"/>
          </a:p>
          <a:p>
            <a:r>
              <a:rPr lang="en-GB" sz="2100" dirty="0"/>
              <a:t>Covariate projection: linear trend extrapolation or policy-driven scenarios (optimistic, pessimistic).</a:t>
            </a:r>
          </a:p>
          <a:p>
            <a:pPr marL="0" indent="0">
              <a:buNone/>
            </a:pPr>
            <a:endParaRPr lang="en-GB" sz="2100" dirty="0"/>
          </a:p>
          <a:p>
            <a:r>
              <a:rPr lang="en-GB" sz="2100" dirty="0"/>
              <a:t>Output: site-level prevalence forecasts which can be aggregated to LGA/State for resource planning.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Bar Graph with Upward Trend">
            <a:extLst>
              <a:ext uri="{FF2B5EF4-FFF2-40B4-BE49-F238E27FC236}">
                <a16:creationId xmlns:a16="http://schemas.microsoft.com/office/drawing/2014/main" id="{25FE7C20-FB8F-DA8B-A79B-9EE52FF3F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E65D517-46E4-8037-A63D-629DE1253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0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214" y="276198"/>
            <a:ext cx="7858200" cy="115724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500"/>
              <a:t>Prototype:- Website &amp; Bio‑Health Tracker Web Application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32BD896-5D1D-C871-A57F-3636E1ED1896}"/>
              </a:ext>
            </a:extLst>
          </p:cNvPr>
          <p:cNvGrpSpPr/>
          <p:nvPr/>
        </p:nvGrpSpPr>
        <p:grpSpPr>
          <a:xfrm>
            <a:off x="938121" y="2607089"/>
            <a:ext cx="7267754" cy="2905930"/>
            <a:chOff x="804798" y="1601579"/>
            <a:chExt cx="5411689" cy="205967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A25DD1C-D946-1092-8023-947CF208FBE8}"/>
                </a:ext>
              </a:extLst>
            </p:cNvPr>
            <p:cNvSpPr/>
            <p:nvPr/>
          </p:nvSpPr>
          <p:spPr>
            <a:xfrm>
              <a:off x="1119807" y="1601579"/>
              <a:ext cx="985412" cy="985412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7" name="Rectangle 6" descr="Needle">
              <a:extLst>
                <a:ext uri="{FF2B5EF4-FFF2-40B4-BE49-F238E27FC236}">
                  <a16:creationId xmlns:a16="http://schemas.microsoft.com/office/drawing/2014/main" id="{391EF2F8-4119-BB94-17F0-F424336031F7}"/>
                </a:ext>
              </a:extLst>
            </p:cNvPr>
            <p:cNvSpPr/>
            <p:nvPr/>
          </p:nvSpPr>
          <p:spPr>
            <a:xfrm>
              <a:off x="1329812" y="1811585"/>
              <a:ext cx="565400" cy="565400"/>
            </a:xfrm>
            <a:prstGeom prst="rect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C3EA14A-58E1-A5AC-DBB0-A9690FC96FA6}"/>
                </a:ext>
              </a:extLst>
            </p:cNvPr>
            <p:cNvSpPr/>
            <p:nvPr/>
          </p:nvSpPr>
          <p:spPr>
            <a:xfrm>
              <a:off x="804798" y="2893923"/>
              <a:ext cx="1615429" cy="767329"/>
            </a:xfrm>
            <a:custGeom>
              <a:avLst/>
              <a:gdLst>
                <a:gd name="connsiteX0" fmla="*/ 0 w 1615429"/>
                <a:gd name="connsiteY0" fmla="*/ 0 h 767329"/>
                <a:gd name="connsiteX1" fmla="*/ 1615429 w 1615429"/>
                <a:gd name="connsiteY1" fmla="*/ 0 h 767329"/>
                <a:gd name="connsiteX2" fmla="*/ 1615429 w 1615429"/>
                <a:gd name="connsiteY2" fmla="*/ 767329 h 767329"/>
                <a:gd name="connsiteX3" fmla="*/ 0 w 1615429"/>
                <a:gd name="connsiteY3" fmla="*/ 767329 h 767329"/>
                <a:gd name="connsiteX4" fmla="*/ 0 w 1615429"/>
                <a:gd name="connsiteY4" fmla="*/ 0 h 767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429" h="767329">
                  <a:moveTo>
                    <a:pt x="0" y="0"/>
                  </a:moveTo>
                  <a:lnTo>
                    <a:pt x="1615429" y="0"/>
                  </a:lnTo>
                  <a:lnTo>
                    <a:pt x="1615429" y="767329"/>
                  </a:lnTo>
                  <a:lnTo>
                    <a:pt x="0" y="7673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557403">
                <a:spcBef>
                  <a:spcPct val="0"/>
                </a:spcBef>
                <a:spcAft>
                  <a:spcPct val="35000"/>
                </a:spcAft>
                <a:defRPr cap="all"/>
              </a:pPr>
              <a:r>
                <a:rPr lang="en-US" sz="1254" kern="1200" cap="all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Features: user registration, personal health profile, symptom log, recommended clinic visits based on forecasts.</a:t>
              </a:r>
              <a:endParaRPr lang="en-US" sz="1100" kern="12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F4975C-431A-8DFD-7938-ACDC762280DF}"/>
                </a:ext>
              </a:extLst>
            </p:cNvPr>
            <p:cNvSpPr/>
            <p:nvPr/>
          </p:nvSpPr>
          <p:spPr>
            <a:xfrm>
              <a:off x="3017936" y="1601579"/>
              <a:ext cx="985412" cy="985412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Rectangle 9" descr="Database">
              <a:extLst>
                <a:ext uri="{FF2B5EF4-FFF2-40B4-BE49-F238E27FC236}">
                  <a16:creationId xmlns:a16="http://schemas.microsoft.com/office/drawing/2014/main" id="{37A49A9F-48B3-8374-5CCD-94281F45B824}"/>
                </a:ext>
              </a:extLst>
            </p:cNvPr>
            <p:cNvSpPr/>
            <p:nvPr/>
          </p:nvSpPr>
          <p:spPr>
            <a:xfrm>
              <a:off x="3227942" y="1811585"/>
              <a:ext cx="565400" cy="565400"/>
            </a:xfrm>
            <a:prstGeom prst="rect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1AC83FD-9EEB-D62B-F290-74F331FC37F5}"/>
                </a:ext>
              </a:extLst>
            </p:cNvPr>
            <p:cNvSpPr/>
            <p:nvPr/>
          </p:nvSpPr>
          <p:spPr>
            <a:xfrm>
              <a:off x="2702928" y="2893923"/>
              <a:ext cx="1615429" cy="767329"/>
            </a:xfrm>
            <a:custGeom>
              <a:avLst/>
              <a:gdLst>
                <a:gd name="connsiteX0" fmla="*/ 0 w 1615429"/>
                <a:gd name="connsiteY0" fmla="*/ 0 h 767329"/>
                <a:gd name="connsiteX1" fmla="*/ 1615429 w 1615429"/>
                <a:gd name="connsiteY1" fmla="*/ 0 h 767329"/>
                <a:gd name="connsiteX2" fmla="*/ 1615429 w 1615429"/>
                <a:gd name="connsiteY2" fmla="*/ 767329 h 767329"/>
                <a:gd name="connsiteX3" fmla="*/ 0 w 1615429"/>
                <a:gd name="connsiteY3" fmla="*/ 767329 h 767329"/>
                <a:gd name="connsiteX4" fmla="*/ 0 w 1615429"/>
                <a:gd name="connsiteY4" fmla="*/ 0 h 767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429" h="767329">
                  <a:moveTo>
                    <a:pt x="0" y="0"/>
                  </a:moveTo>
                  <a:lnTo>
                    <a:pt x="1615429" y="0"/>
                  </a:lnTo>
                  <a:lnTo>
                    <a:pt x="1615429" y="767329"/>
                  </a:lnTo>
                  <a:lnTo>
                    <a:pt x="0" y="7673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557403">
                <a:spcBef>
                  <a:spcPct val="0"/>
                </a:spcBef>
                <a:spcAft>
                  <a:spcPct val="35000"/>
                </a:spcAft>
                <a:defRPr cap="all"/>
              </a:pPr>
              <a:r>
                <a:rPr lang="en-US" sz="1254" kern="1200" cap="all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Model integration: frontend calls Predict API to get site-year prevalence forecasts and recommended actions.</a:t>
              </a:r>
              <a:endParaRPr lang="en-US" sz="1100" kern="12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06D2F76-2A77-3C05-C43A-46B57043CCD0}"/>
                </a:ext>
              </a:extLst>
            </p:cNvPr>
            <p:cNvSpPr/>
            <p:nvPr/>
          </p:nvSpPr>
          <p:spPr>
            <a:xfrm>
              <a:off x="4916066" y="1601579"/>
              <a:ext cx="985412" cy="985412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 12" descr="Lock">
              <a:extLst>
                <a:ext uri="{FF2B5EF4-FFF2-40B4-BE49-F238E27FC236}">
                  <a16:creationId xmlns:a16="http://schemas.microsoft.com/office/drawing/2014/main" id="{F3B4CC4F-54C8-0181-9F7D-45BE6FBD68AE}"/>
                </a:ext>
              </a:extLst>
            </p:cNvPr>
            <p:cNvSpPr/>
            <p:nvPr/>
          </p:nvSpPr>
          <p:spPr>
            <a:xfrm>
              <a:off x="5126072" y="1811585"/>
              <a:ext cx="565400" cy="565400"/>
            </a:xfrm>
            <a:prstGeom prst="rect">
              <a:avLst/>
            </a:prstGeom>
            <a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7AC17A3-F735-FCFB-9F22-E52E4A62D174}"/>
                </a:ext>
              </a:extLst>
            </p:cNvPr>
            <p:cNvSpPr/>
            <p:nvPr/>
          </p:nvSpPr>
          <p:spPr>
            <a:xfrm>
              <a:off x="4601058" y="2893923"/>
              <a:ext cx="1615429" cy="767329"/>
            </a:xfrm>
            <a:custGeom>
              <a:avLst/>
              <a:gdLst>
                <a:gd name="connsiteX0" fmla="*/ 0 w 1615429"/>
                <a:gd name="connsiteY0" fmla="*/ 0 h 767329"/>
                <a:gd name="connsiteX1" fmla="*/ 1615429 w 1615429"/>
                <a:gd name="connsiteY1" fmla="*/ 0 h 767329"/>
                <a:gd name="connsiteX2" fmla="*/ 1615429 w 1615429"/>
                <a:gd name="connsiteY2" fmla="*/ 767329 h 767329"/>
                <a:gd name="connsiteX3" fmla="*/ 0 w 1615429"/>
                <a:gd name="connsiteY3" fmla="*/ 767329 h 767329"/>
                <a:gd name="connsiteX4" fmla="*/ 0 w 1615429"/>
                <a:gd name="connsiteY4" fmla="*/ 0 h 767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429" h="767329">
                  <a:moveTo>
                    <a:pt x="0" y="0"/>
                  </a:moveTo>
                  <a:lnTo>
                    <a:pt x="1615429" y="0"/>
                  </a:lnTo>
                  <a:lnTo>
                    <a:pt x="1615429" y="767329"/>
                  </a:lnTo>
                  <a:lnTo>
                    <a:pt x="0" y="7673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557403">
                <a:spcBef>
                  <a:spcPct val="0"/>
                </a:spcBef>
                <a:spcAft>
                  <a:spcPct val="35000"/>
                </a:spcAft>
                <a:defRPr cap="all"/>
              </a:pPr>
              <a:r>
                <a:rPr lang="en-US" sz="1254" kern="1200" cap="all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Privacy: minimal PII storage, encryption-at-rest, role-based access control for health workers.</a:t>
              </a:r>
              <a:endParaRPr lang="en-US" sz="1100" kern="12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3" y="350196"/>
            <a:ext cx="5225143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000" dirty="0"/>
              <a:t>Power BI Dashboard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438400"/>
            <a:ext cx="4566706" cy="39179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00" dirty="0"/>
              <a:t>Dashboard components: clinic distribution map, prevalence heatmap, stockout alert table, utilization trends.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Embed approach: host PBIX on Power BI Service and embed via </a:t>
            </a:r>
            <a:r>
              <a:rPr lang="en-GB" sz="1800" dirty="0" err="1"/>
              <a:t>iframe</a:t>
            </a:r>
            <a:r>
              <a:rPr lang="en-GB" sz="1800" dirty="0"/>
              <a:t> and publish to web for judges.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Data connectors: streaming endpoint from backend for live updates (or periodic batch updates).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Value: policy-friendly visuals for health managers and NHIS planners.</a:t>
            </a:r>
          </a:p>
        </p:txBody>
      </p:sp>
      <p:pic>
        <p:nvPicPr>
          <p:cNvPr id="5" name="Picture 4" descr="A digital network connection">
            <a:extLst>
              <a:ext uri="{FF2B5EF4-FFF2-40B4-BE49-F238E27FC236}">
                <a16:creationId xmlns:a16="http://schemas.microsoft.com/office/drawing/2014/main" id="{9328B6BD-C711-42B1-D709-C0F1FE180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34" r="31470"/>
          <a:stretch>
            <a:fillRect/>
          </a:stretch>
        </p:blipFill>
        <p:spPr>
          <a:xfrm>
            <a:off x="5507696" y="1"/>
            <a:ext cx="36414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47328C-D8CA-855E-1FFA-4F1BE37E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health facility dashboard&#10;&#10;AI-generated content may be incorrect.">
            <a:extLst>
              <a:ext uri="{FF2B5EF4-FFF2-40B4-BE49-F238E27FC236}">
                <a16:creationId xmlns:a16="http://schemas.microsoft.com/office/drawing/2014/main" id="{6CC4B462-352C-1679-19A9-535A28A1F5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t="-14011" b="-14011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EFC22-F61E-9E4E-07C2-BD3D9A774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22362"/>
            <a:ext cx="6858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000">
                <a:solidFill>
                  <a:srgbClr val="FFFFFF"/>
                </a:solidFill>
              </a:rPr>
              <a:t>Web Application Dashboard Feature</a:t>
            </a:r>
          </a:p>
        </p:txBody>
      </p:sp>
    </p:spTree>
    <p:extLst>
      <p:ext uri="{BB962C8B-B14F-4D97-AF65-F5344CB8AC3E}">
        <p14:creationId xmlns:p14="http://schemas.microsoft.com/office/powerpoint/2010/main" val="1656629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A group of elephants walking in a field&#10;&#10;AI-generated content may be incorrect.">
            <a:extLst>
              <a:ext uri="{FF2B5EF4-FFF2-40B4-BE49-F238E27FC236}">
                <a16:creationId xmlns:a16="http://schemas.microsoft.com/office/drawing/2014/main" id="{0DCDC0D5-7986-B70C-378A-268FAA8A60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9535"/>
          <a:stretch>
            <a:fillRect/>
          </a:stretch>
        </p:blipFill>
        <p:spPr>
          <a:xfrm>
            <a:off x="20" y="10"/>
            <a:ext cx="9171076" cy="466692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2987478"/>
            <a:ext cx="9171095" cy="1828800"/>
            <a:chOff x="-305" y="2987478"/>
            <a:chExt cx="12188952" cy="18288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8" name="Freeform: Shape 17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29" y="3429001"/>
            <a:ext cx="4239211" cy="26319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2"/>
                </a:solidFill>
              </a:rPr>
              <a:t>Scaling Strategy: Nigeria &amp; Beyond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2685" y="3907971"/>
            <a:ext cx="3694808" cy="276497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2"/>
                </a:solidFill>
              </a:rPr>
              <a:t>Phase 1: Pilot (selected states); validate model, integrate DHIS2 feeds, local partnerships with different States.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2"/>
                </a:solidFill>
              </a:rPr>
              <a:t>Phase 2: Regional rollout; integrate national facility registries, local language packs, train local admins.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2"/>
                </a:solidFill>
              </a:rPr>
              <a:t>Phase 3: Continental scaling; adapt covariate sources per country, modular connectors for DHIS2/HDX and </a:t>
            </a:r>
            <a:r>
              <a:rPr lang="en-GB" sz="1400" dirty="0" err="1">
                <a:solidFill>
                  <a:schemeClr val="tx2"/>
                </a:solidFill>
              </a:rPr>
              <a:t>WorldPop</a:t>
            </a:r>
            <a:r>
              <a:rPr lang="en-GB" sz="1400" dirty="0">
                <a:solidFill>
                  <a:schemeClr val="tx2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2"/>
                </a:solidFill>
              </a:rPr>
              <a:t>Operational needs: cloud hosting, CI/CD pipeline, model retraining cadence, local data governance.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286000"/>
            <a:ext cx="4000649" cy="407035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400" dirty="0"/>
              <a:t>Local relevance: model uses local climatic, socio-economic, and access indicators to reflect Nigeria's heterogeneity.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400" dirty="0"/>
          </a:p>
          <a:p>
            <a:pPr>
              <a:lnSpc>
                <a:spcPct val="90000"/>
              </a:lnSpc>
            </a:pPr>
            <a:r>
              <a:rPr lang="en-GB" sz="1400" dirty="0"/>
              <a:t>Language support: UI translations and TTS for English, Yoruba, Hausa, Igbo, Pidgin; local terminology for symptoms.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400" dirty="0"/>
          </a:p>
          <a:p>
            <a:pPr>
              <a:lnSpc>
                <a:spcPct val="90000"/>
              </a:lnSpc>
            </a:pPr>
            <a:r>
              <a:rPr lang="en-GB" sz="1400" dirty="0"/>
              <a:t>Community buy-in: co-design workshops with CHWs and facility managers to ensure culturally appropriate prompts.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400" dirty="0"/>
          </a:p>
          <a:p>
            <a:pPr>
              <a:lnSpc>
                <a:spcPct val="90000"/>
              </a:lnSpc>
            </a:pPr>
            <a:r>
              <a:rPr lang="en-GB" sz="1400" dirty="0"/>
              <a:t>Training &amp; materials: localized SOPs, short video guides, and quick-reference SMS/USSD summary flows.</a:t>
            </a:r>
          </a:p>
        </p:txBody>
      </p:sp>
      <p:pic>
        <p:nvPicPr>
          <p:cNvPr id="5" name="Picture 4" descr="Colorful carved figures of humans">
            <a:extLst>
              <a:ext uri="{FF2B5EF4-FFF2-40B4-BE49-F238E27FC236}">
                <a16:creationId xmlns:a16="http://schemas.microsoft.com/office/drawing/2014/main" id="{F0683ED8-778A-196B-784F-8580253B0C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40" r="26107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1" y="350196"/>
            <a:ext cx="7843305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000" dirty="0"/>
              <a:t>Local Context &amp; Language Localization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GB" sz="3500">
                <a:solidFill>
                  <a:schemeClr val="tx2"/>
                </a:solidFill>
              </a:rPr>
              <a:t>Offline-first &amp; Low-connectivity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GB" sz="1600" dirty="0">
                <a:solidFill>
                  <a:schemeClr val="tx2"/>
                </a:solidFill>
              </a:rPr>
              <a:t>Client-side caching: store recent predictions, user logs, and forms in local storage or SQLite (mobile).</a:t>
            </a:r>
          </a:p>
          <a:p>
            <a:pPr marL="0" indent="0">
              <a:buNone/>
            </a:pPr>
            <a:endParaRPr lang="en-GB" sz="1600" dirty="0">
              <a:solidFill>
                <a:schemeClr val="tx2"/>
              </a:solidFill>
            </a:endParaRPr>
          </a:p>
          <a:p>
            <a:r>
              <a:rPr lang="en-GB" sz="1600" dirty="0">
                <a:solidFill>
                  <a:schemeClr val="tx2"/>
                </a:solidFill>
              </a:rPr>
              <a:t>USSD &amp; SMS fallback: lightweight menus for feature-phone users to access risk summaries and nearest clinic.</a:t>
            </a:r>
          </a:p>
          <a:p>
            <a:pPr marL="0" indent="0">
              <a:buNone/>
            </a:pPr>
            <a:endParaRPr lang="en-GB" sz="1600" dirty="0">
              <a:solidFill>
                <a:schemeClr val="tx2"/>
              </a:solidFill>
            </a:endParaRPr>
          </a:p>
          <a:p>
            <a:r>
              <a:rPr lang="en-GB" sz="1600" dirty="0">
                <a:solidFill>
                  <a:schemeClr val="tx2"/>
                </a:solidFill>
              </a:rPr>
              <a:t>Sync strategy: background sync when connectivity available; conflict resolution rules for clinic reports.</a:t>
            </a:r>
          </a:p>
          <a:p>
            <a:pPr marL="0" indent="0">
              <a:buNone/>
            </a:pPr>
            <a:endParaRPr lang="en-GB" sz="1600" dirty="0">
              <a:solidFill>
                <a:schemeClr val="tx2"/>
              </a:solidFill>
            </a:endParaRPr>
          </a:p>
          <a:p>
            <a:r>
              <a:rPr lang="en-GB" sz="1600" dirty="0">
                <a:solidFill>
                  <a:schemeClr val="tx2"/>
                </a:solidFill>
              </a:rPr>
              <a:t>Lightweight payloads: compress model responses and use small JSON payloads; lazy-load map tiles.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1" y="350196"/>
            <a:ext cx="3739391" cy="1624520"/>
          </a:xfrm>
        </p:spPr>
        <p:txBody>
          <a:bodyPr anchor="ctr">
            <a:normAutofit/>
          </a:bodyPr>
          <a:lstStyle/>
          <a:p>
            <a:r>
              <a:rPr lang="en-GB" sz="3500" dirty="0"/>
              <a:t>Impact Metrics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400" dirty="0"/>
              <a:t>Operational metrics: stockout reduction %, timely referrals, predictions accuracy (MAE by region).</a:t>
            </a:r>
          </a:p>
          <a:p>
            <a:pPr>
              <a:lnSpc>
                <a:spcPct val="90000"/>
              </a:lnSpc>
            </a:pPr>
            <a:endParaRPr lang="en-GB" sz="1400" dirty="0"/>
          </a:p>
          <a:p>
            <a:pPr>
              <a:lnSpc>
                <a:spcPct val="90000"/>
              </a:lnSpc>
            </a:pPr>
            <a:r>
              <a:rPr lang="en-GB" sz="1400" dirty="0"/>
              <a:t>Health outcomes: reduction in malaria incidence, reductions in severe cases, improved ANC attendance.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400" dirty="0"/>
          </a:p>
          <a:p>
            <a:pPr>
              <a:lnSpc>
                <a:spcPct val="90000"/>
              </a:lnSpc>
            </a:pPr>
            <a:r>
              <a:rPr lang="en-GB" sz="1400" dirty="0"/>
              <a:t>Adoption metrics: active CHWs, facilities using the dashboard, API calls per month, retention.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400" dirty="0"/>
          </a:p>
          <a:p>
            <a:pPr>
              <a:lnSpc>
                <a:spcPct val="90000"/>
              </a:lnSpc>
            </a:pPr>
            <a:r>
              <a:rPr lang="en-GB" sz="1400" dirty="0"/>
              <a:t>Equity metrics: change in service coverage for top 20% underserved LGAs; gender-disaggregated use.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911958A3-EDF9-74B2-24D6-E2B3DFCDE8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872" r="2358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762" y="479294"/>
            <a:ext cx="7900352" cy="793751"/>
          </a:xfrm>
        </p:spPr>
        <p:txBody>
          <a:bodyPr anchor="b">
            <a:normAutofit/>
          </a:bodyPr>
          <a:lstStyle/>
          <a:p>
            <a:r>
              <a:rPr lang="en-GB" sz="3600" dirty="0">
                <a:solidFill>
                  <a:schemeClr val="tx2"/>
                </a:solidFill>
              </a:rPr>
              <a:t>Sustainability &amp; Funding Model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1752338"/>
            <a:ext cx="7375161" cy="3832617"/>
          </a:xfrm>
        </p:spPr>
        <p:txBody>
          <a:bodyPr>
            <a:norm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Open-source core with paid managed services for hosting, premium analytics and SLAs for ministries.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r>
              <a:rPr lang="en-GB" sz="1800" dirty="0">
                <a:solidFill>
                  <a:schemeClr val="tx2"/>
                </a:solidFill>
              </a:rPr>
              <a:t>Partnerships: state health agencies, NGOs (e.g., Malaria Consortium), donors (GAVI, Global Fund).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r>
              <a:rPr lang="en-GB" sz="1800" dirty="0">
                <a:solidFill>
                  <a:schemeClr val="tx2"/>
                </a:solidFill>
              </a:rPr>
              <a:t>Revenue streams: subscription for advanced reports, capacity-building workshops, integration services.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r>
              <a:rPr lang="en-GB" sz="1800" dirty="0">
                <a:solidFill>
                  <a:schemeClr val="tx2"/>
                </a:solidFill>
              </a:rPr>
              <a:t>Governance: data-sharing MOUs, local data custodians, and compliance with national health data policies.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61AEE4-4E38-4BAC-976D-E0DE523F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BC676B-D19A-44DB-910A-0C0E6D43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323" y="3985"/>
            <a:ext cx="7329573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99AA485-A13F-4455-814E-C116AD7E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90D55F-0AFB-45E5-8815-A4701774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476B6C1-4A41-48E6-8540-FC48FCD76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47F445-D2CA-4FEB-AB8E-7A47AB57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2F1B3D8-301E-4A54-9284-EB14E905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E4B9C67-860A-4569-AC84-3ADE433D1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175B763-A6E6-4AD1-9138-9B1164A7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23" y="519826"/>
            <a:ext cx="7743917" cy="1011710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chemeClr val="tx2"/>
                </a:solidFill>
              </a:rPr>
              <a:t>Key Takeaways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054" y="1901651"/>
            <a:ext cx="6650847" cy="36282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00" dirty="0">
                <a:solidFill>
                  <a:schemeClr val="tx2"/>
                </a:solidFill>
              </a:rPr>
              <a:t>We built an MLP-based malaria prevalence predictor integrated into a website that has a Power BI dashboard incorporated.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800" dirty="0">
                <a:solidFill>
                  <a:schemeClr val="tx2"/>
                </a:solidFill>
              </a:rPr>
              <a:t>Actionable outputs: site-level forecasts, triage and symptoms guidance for patience, and visual tools for policymakers.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800" dirty="0">
                <a:solidFill>
                  <a:schemeClr val="tx2"/>
                </a:solidFill>
              </a:rPr>
              <a:t>Next steps: pilot in 2 states, connect live DHIS2 feeds, expand language support, and hold CHW trainings.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800" dirty="0">
                <a:solidFill>
                  <a:schemeClr val="tx2"/>
                </a:solidFill>
              </a:rPr>
              <a:t>Ask: funding for pilot, MOH partnership, and technical resources for deployment &amp; monitoring.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61AEE4-4E38-4BAC-976D-E0DE523F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BC676B-D19A-44DB-910A-0C0E6D43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323" y="3985"/>
            <a:ext cx="7329573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99AA485-A13F-4455-814E-C116AD7E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90D55F-0AFB-45E5-8815-A4701774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476B6C1-4A41-48E6-8540-FC48FCD76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47F445-D2CA-4FEB-AB8E-7A47AB57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2F1B3D8-301E-4A54-9284-EB14E905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E4B9C67-860A-4569-AC84-3ADE433D1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175B763-A6E6-4AD1-9138-9B1164A7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671" y="612861"/>
            <a:ext cx="7136711" cy="1837349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chemeClr val="tx2"/>
                </a:solidFill>
              </a:rPr>
              <a:t>Appendix: Technical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3689" y="2490403"/>
            <a:ext cx="7136711" cy="2430864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GB" sz="2000" dirty="0">
                <a:solidFill>
                  <a:schemeClr val="tx2"/>
                </a:solidFill>
              </a:rPr>
              <a:t>Data pipeline: ingestion (raw) → cleaning → interpolation → feature engineering → model training.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2000" dirty="0">
                <a:solidFill>
                  <a:schemeClr val="tx2"/>
                </a:solidFill>
              </a:rPr>
              <a:t>Model artifacts: model.h5, </a:t>
            </a:r>
            <a:r>
              <a:rPr lang="en-GB" sz="2000" dirty="0" err="1">
                <a:solidFill>
                  <a:schemeClr val="tx2"/>
                </a:solidFill>
              </a:rPr>
              <a:t>scaler.joblib</a:t>
            </a:r>
            <a:r>
              <a:rPr lang="en-GB" sz="2000" dirty="0">
                <a:solidFill>
                  <a:schemeClr val="tx2"/>
                </a:solidFill>
              </a:rPr>
              <a:t>, feature list, SHAP explanation artifacts.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2000" dirty="0">
                <a:solidFill>
                  <a:schemeClr val="tx2"/>
                </a:solidFill>
              </a:rPr>
              <a:t>Deployment: </a:t>
            </a:r>
            <a:r>
              <a:rPr lang="en-GB" sz="2000" dirty="0" err="1">
                <a:solidFill>
                  <a:schemeClr val="tx2"/>
                </a:solidFill>
              </a:rPr>
              <a:t>FastAPI</a:t>
            </a:r>
            <a:r>
              <a:rPr lang="en-GB" sz="2000" dirty="0">
                <a:solidFill>
                  <a:schemeClr val="tx2"/>
                </a:solidFill>
              </a:rPr>
              <a:t> model endpoint, frontend fetch, Power BI connector for batch updates.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2000" dirty="0">
                <a:solidFill>
                  <a:schemeClr val="tx2"/>
                </a:solidFill>
              </a:rPr>
              <a:t>Reproducibility: </a:t>
            </a:r>
            <a:r>
              <a:rPr lang="en-GB" sz="2000" dirty="0" err="1">
                <a:solidFill>
                  <a:schemeClr val="tx2"/>
                </a:solidFill>
              </a:rPr>
              <a:t>Dockerfile</a:t>
            </a:r>
            <a:r>
              <a:rPr lang="en-GB" sz="2000" dirty="0">
                <a:solidFill>
                  <a:schemeClr val="tx2"/>
                </a:solidFill>
              </a:rPr>
              <a:t>, CI scripts, and README with run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1106</Words>
  <Application>Microsoft Office PowerPoint</Application>
  <PresentationFormat>On-screen Show (4:3)</PresentationFormat>
  <Paragraphs>99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PHC AI - Malaria Prevalence Predictor &amp; Bio‑Health Tracker</vt:lpstr>
      <vt:lpstr>Executive Summary</vt:lpstr>
      <vt:lpstr>Data Landscape &amp; Sources</vt:lpstr>
      <vt:lpstr>Model Overview — MLP (Multilayer Perceptron)</vt:lpstr>
      <vt:lpstr>Training Strategy &amp; Evaluation</vt:lpstr>
      <vt:lpstr>Model Performance &amp; Diagnostics</vt:lpstr>
      <vt:lpstr>Forecasting &amp; Scenario Analysis</vt:lpstr>
      <vt:lpstr>Prototype:- Website &amp; Bio‑Health Tracker Web Application</vt:lpstr>
      <vt:lpstr>Power BI Dashboard Integration</vt:lpstr>
      <vt:lpstr>Web Application Dashboard Feature</vt:lpstr>
      <vt:lpstr>Scaling Strategy: Nigeria &amp; Beyond</vt:lpstr>
      <vt:lpstr>Local Context &amp; Language Localization</vt:lpstr>
      <vt:lpstr>Offline-first &amp; Low-connectivity Features</vt:lpstr>
      <vt:lpstr>Impact Metrics &amp; Monitoring</vt:lpstr>
      <vt:lpstr>Sustainability &amp; Funding Model</vt:lpstr>
      <vt:lpstr>Key Takeaways &amp; Next Steps</vt:lpstr>
      <vt:lpstr>Appendix: Technical Details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Dauda Agbonoga</cp:lastModifiedBy>
  <cp:revision>5</cp:revision>
  <dcterms:created xsi:type="dcterms:W3CDTF">2013-01-27T09:14:16Z</dcterms:created>
  <dcterms:modified xsi:type="dcterms:W3CDTF">2025-10-12T16:18:13Z</dcterms:modified>
  <cp:category/>
</cp:coreProperties>
</file>